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5.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8ecb3ee-7c99-9a0b-f303-a6194279ab86}">
          <p14:sldIdLst>
            <p14:sldId id="256"/>
            <p14:sldId id="257"/>
          </p14:sldIdLst>
        </p14:section>
        <p14:section name="Research paper" id="{bf93a107-5c25-4775-9c45-73ccf6a77866}">
          <p14:sldIdLst>
            <p14:sldId id="258"/>
            <p14:sldId id="259"/>
            <p14:sldId id="260"/>
            <p14:sldId id="261"/>
            <p14:sldId id="262"/>
          </p14:sldIdLst>
        </p14:section>
        <p14:section name="Research gaps" id="{4bc964ed-874f-21ed-c6c6-20da245a4681}">
          <p14:sldIdLst>
            <p14:sldId id="263"/>
            <p14:sldId id="264"/>
          </p14:sldIdLst>
        </p14:section>
        <p14:section name="Implementation" id="{eb3a3e9c-d76d-8dba-68a7-d07026dacbdb}">
          <p14:sldIdLst>
            <p14:sldId id="265"/>
            <p14:sldId id="266"/>
            <p14:sldId id="267"/>
            <p14:sldId id="268"/>
            <p14:sldId id="269"/>
          </p14:sldIdLst>
        </p14:section>
        <p14:section name="Results" id="{a8ab995a-1f92-a75e-177f-045fbed1152d}">
          <p14:sldIdLst>
            <p14:sldId id="270"/>
            <p14:sldId id="271"/>
            <p14:sldId id="272"/>
            <p14:sldId id="273"/>
            <p14:sldId id="274"/>
            <p14:sldId id="275"/>
            <p14:sldId id="276"/>
          </p14:sldIdLst>
        </p14:section>
        <p14:section name="Future work" id="{47c9980c-549b-8e47-9def-94a62c784362}">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mn-lt"/>
              </a:defRPr>
            </a:pPr>
            <a:r>
              <a:rPr sz="1200" b="0" i="0" u="none" strike="noStrike">
                <a:solidFill>
                  <a:srgbClr val="1F2933"/>
                </a:solidFill>
                <a:latin typeface="+mn-lt"/>
              </a:rPr>
              <a:t>Feature set selection (CV AUC, default LightGBM)</a:t>
            </a:r>
          </a:p>
        </c:rich>
      </c:tx>
      <c:layout/>
      <c:overlay val="0"/>
    </c:title>
    <c:autoTitleDeleted val="0"/>
    <c:plotArea>
      <c:layout/>
      <c:barChart>
        <c:barDir val="bar"/>
        <c:grouping val="clustered"/>
        <c:varyColors val="0"/>
        <c:ser>
          <c:idx val="0"/>
          <c:order val="0"/>
          <c:tx>
            <c:strRef>
              <c:f>Sheet1!$B$1</c:f>
              <c:strCache>
                <c:ptCount val="1"/>
                <c:pt idx="0">
                  <c:v>Validation AUC</c:v>
                </c:pt>
              </c:strCache>
            </c:strRef>
          </c:tx>
          <c:spPr>
            <a:solidFill>
              <a:srgbClr val="0B3C5D"/>
            </a:solidFill>
            <a:effectLst/>
          </c:spPr>
          <c:invertIfNegative val="0"/>
          <c:dLbls>
            <c:numFmt formatCode="0.00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raw 28 (paper)</c:v>
                  </c:pt>
                  <c:pt idx="1">
                    <c:v>enhanced (67)</c:v>
                  </c:pt>
                  <c:pt idx="2">
                    <c:v>rank only (68)</c:v>
                  </c:pt>
                  <c:pt idx="3">
                    <c:v>enhanced + rank (133)</c:v>
                  </c:pt>
                </c:lvl>
              </c:multiLvlStrCache>
            </c:multiLvlStrRef>
          </c:cat>
          <c:val>
            <c:numRef>
              <c:f>Sheet1!$B$2:$B$5</c:f>
              <c:numCache>
                <c:formatCode>General</c:formatCode>
                <c:ptCount val="4"/>
                <c:pt idx="0">
                  <c:v>0.701</c:v>
                </c:pt>
                <c:pt idx="1">
                  <c:v>0.735</c:v>
                </c:pt>
                <c:pt idx="2">
                  <c:v>0.743</c:v>
                </c:pt>
                <c:pt idx="3">
                  <c:v>0.745</c:v>
                </c:pt>
              </c:numCache>
            </c:numRef>
          </c:val>
        </c:ser>
        <c:dLbls>
          <c:numFmt formatCode="0.00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0.76"/>
          <c:min val="0.68"/>
        </c:scaling>
        <c:delete val="0"/>
        <c:axPos val="b"/>
        <c:majorGridlines>
          <c:spPr>
            <a:ln w="6350" cap="flat">
              <a:solidFill>
                <a:srgbClr val="E5E7EB"/>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mn-lt"/>
              </a:defRPr>
            </a:pPr>
            <a:r>
              <a:rPr sz="1200" b="0" i="0" u="none" strike="noStrike">
                <a:solidFill>
                  <a:srgbClr val="1F2933"/>
                </a:solidFill>
                <a:latin typeface="+mn-lt"/>
              </a:rPr>
              <a:t>Mean AUC, test years 2003-2012</a:t>
            </a:r>
          </a:p>
        </c:rich>
      </c:tx>
      <c:layout/>
      <c:overlay val="0"/>
    </c:title>
    <c:autoTitleDeleted val="0"/>
    <c:plotArea>
      <c:layout/>
      <c:barChart>
        <c:barDir val="bar"/>
        <c:grouping val="clustered"/>
        <c:varyColors val="0"/>
        <c:ser>
          <c:idx val="0"/>
          <c:order val="0"/>
          <c:tx>
            <c:strRef>
              <c:f>Sheet1!$B$1</c:f>
              <c:strCache>
                <c:ptCount val="1"/>
                <c:pt idx="0">
                  <c:v>AUC</c:v>
                </c:pt>
              </c:strCache>
            </c:strRef>
          </c:tx>
          <c:spPr>
            <a:solidFill>
              <a:srgbClr val="6B7280"/>
            </a:solidFill>
            <a:effectLst/>
          </c:spPr>
          <c:invertIfNegative val="0"/>
          <c:dLbls>
            <c:numFmt formatCode="0.00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6B7280"/>
              </a:solidFill>
              <a:effectLst/>
            </c:spPr>
          </c:dPt>
          <c:dPt>
            <c:idx val="1"/>
            <c:invertIfNegative val="0"/>
            <c:bubble3D val="0"/>
            <c:spPr>
              <a:solidFill>
                <a:srgbClr val="6B7280"/>
              </a:solidFill>
              <a:effectLst/>
            </c:spPr>
          </c:dPt>
          <c:dPt>
            <c:idx val="2"/>
            <c:invertIfNegative val="0"/>
            <c:bubble3D val="0"/>
            <c:spPr>
              <a:solidFill>
                <a:srgbClr val="6B7280"/>
              </a:solidFill>
              <a:effectLst/>
            </c:spPr>
          </c:dPt>
          <c:dPt>
            <c:idx val="3"/>
            <c:invertIfNegative val="0"/>
            <c:bubble3D val="0"/>
            <c:spPr>
              <a:solidFill>
                <a:srgbClr val="6B7280"/>
              </a:solidFill>
              <a:effectLst/>
            </c:spPr>
          </c:dPt>
          <c:dPt>
            <c:idx val="4"/>
            <c:invertIfNegative val="0"/>
            <c:bubble3D val="0"/>
            <c:spPr>
              <a:solidFill>
                <a:srgbClr val="6B7280"/>
              </a:solidFill>
              <a:effectLst/>
            </c:spPr>
          </c:dPt>
          <c:dPt>
            <c:idx val="5"/>
            <c:invertIfNegative val="0"/>
            <c:bubble3D val="0"/>
            <c:spPr>
              <a:solidFill>
                <a:srgbClr val="6B7280"/>
              </a:solidFill>
              <a:effectLst/>
            </c:spPr>
          </c:dPt>
          <c:dPt>
            <c:idx val="6"/>
            <c:invertIfNegative val="0"/>
            <c:bubble3D val="0"/>
            <c:spPr>
              <a:solidFill>
                <a:srgbClr val="D97706"/>
              </a:solidFill>
              <a:effectLst/>
            </c:spPr>
          </c:dPt>
          <c:cat>
            <c:multiLvlStrRef>
              <c:f>Sheet1!$A$2:$A$8</c:f>
              <c:multiLvlStrCache>
                <c:ptCount val="7"/>
                <c:lvl>
                  <c:pt idx="0">
                    <c:v>Baseline RUSBoost (raw 28)</c:v>
                  </c:pt>
                  <c:pt idx="1">
                    <c:v>LightGBM (raw 28)</c:v>
                  </c:pt>
                  <c:pt idx="2">
                    <c:v>XGBoost (enhanced)</c:v>
                  </c:pt>
                  <c:pt idx="3">
                    <c:v>Logistic (enhanced)</c:v>
                  </c:pt>
                  <c:pt idx="4">
                    <c:v>LightGBM (enhanced)</c:v>
                  </c:pt>
                  <c:pt idx="5">
                    <c:v>RUSBoost (enhanced)</c:v>
                  </c:pt>
                  <c:pt idx="6">
                    <c:v>Proposed ensemble</c:v>
                  </c:pt>
                </c:lvl>
              </c:multiLvlStrCache>
            </c:multiLvlStrRef>
          </c:cat>
          <c:val>
            <c:numRef>
              <c:f>Sheet1!$B$2:$B$8</c:f>
              <c:numCache>
                <c:formatCode>General</c:formatCode>
                <c:ptCount val="7"/>
                <c:pt idx="0">
                  <c:v>0.705</c:v>
                </c:pt>
                <c:pt idx="1">
                  <c:v>0.716</c:v>
                </c:pt>
                <c:pt idx="2">
                  <c:v>0.719</c:v>
                </c:pt>
                <c:pt idx="3">
                  <c:v>0.725</c:v>
                </c:pt>
                <c:pt idx="4">
                  <c:v>0.73</c:v>
                </c:pt>
                <c:pt idx="5">
                  <c:v>0.732</c:v>
                </c:pt>
                <c:pt idx="6">
                  <c:v>0.732</c:v>
                </c:pt>
              </c:numCache>
            </c:numRef>
          </c:val>
        </c:ser>
        <c:dLbls>
          <c:numFmt formatCode="0.00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0.75"/>
          <c:min val="0.68"/>
        </c:scaling>
        <c:delete val="0"/>
        <c:axPos val="b"/>
        <c:majorGridlines>
          <c:spPr>
            <a:ln w="6350" cap="flat">
              <a:solidFill>
                <a:srgbClr val="E5E7EB"/>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mn-lt"/>
              </a:defRPr>
            </a:pPr>
            <a:r>
              <a:rPr sz="1200" b="0" i="0" u="none" strike="noStrike">
                <a:solidFill>
                  <a:srgbClr val="1F2933"/>
                </a:solidFill>
                <a:latin typeface="+mn-lt"/>
              </a:rPr>
              <a:t>AUC per test year (2013-2014 shown, not averaged)</a:t>
            </a:r>
          </a:p>
        </c:rich>
      </c:tx>
      <c:layout/>
      <c:overlay val="0"/>
    </c:title>
    <c:autoTitleDeleted val="0"/>
    <c:plotArea>
      <c:layout/>
      <c:lineChart>
        <c:varyColors val="0"/>
        <c:ser>
          <c:idx val="0"/>
          <c:order val="0"/>
          <c:tx>
            <c:strRef>
              <c:f>Sheet1!$B$1</c:f>
              <c:strCache>
                <c:ptCount val="1"/>
                <c:pt idx="0">
                  <c:v>Baseline RUSBoost</c:v>
                </c:pt>
              </c:strCache>
            </c:strRef>
          </c:tx>
          <c:spPr>
            <a:solidFill>
              <a:srgbClr val="6B7280"/>
            </a:solidFill>
            <a:ln w="31750" cap="flat">
              <a:solidFill>
                <a:srgbClr val="6B7280"/>
              </a:solidFill>
              <a:prstDash val="solid"/>
              <a:round/>
            </a:ln>
            <a:effectLst/>
          </c:spPr>
          <c:invertIfNegative val="0"/>
          <c:dLbls>
            <c:numFmt formatCode="#,##0" sourceLinked="0"/>
            <c:txPr>
              <a:bodyPr/>
              <a:lstStyle/>
              <a:p>
                <a:pPr>
                  <a:defRPr b="0" i="0" strike="noStrike" sz="900" u="none">
                    <a:solidFill>
                      <a:srgbClr val="1F2933"/>
                    </a:solidFill>
                    <a:latin typeface="+mn-lt"/>
                  </a:defRPr>
                </a:pPr>
              </a:p>
            </c:txPr>
            <c:showLegendKey val="0"/>
            <c:showVal val="0"/>
            <c:showCatName val="0"/>
            <c:showSerName val="0"/>
            <c:showPercent val="0"/>
            <c:showBubbleSize val="0"/>
            <c:showLeaderLines val="0"/>
          </c:dLbls>
          <c:marker>
            <c:symbol val="circle"/>
            <c:size val="6"/>
            <c:spPr>
              <a:solidFill>
                <a:srgbClr val="6B7280"/>
              </a:solidFill>
              <a:ln w="9525" cap="flat">
                <a:solidFill>
                  <a:srgbClr val="6B7280"/>
                </a:solidFill>
                <a:prstDash val="solid"/>
                <a:round/>
              </a:ln>
              <a:effectLst/>
            </c:spPr>
          </c:marker>
          <c:cat>
            <c:multiLvlStrRef>
              <c:f>Sheet1!$A$2:$A$13</c:f>
              <c:multiLvlStrCache>
                <c:ptCount val="12"/>
                <c:lvl>
                  <c:pt idx="0">
                    <c:v>2003</c:v>
                  </c:pt>
                  <c:pt idx="1">
                    <c:v>2004</c:v>
                  </c:pt>
                  <c:pt idx="2">
                    <c:v>2005</c:v>
                  </c:pt>
                  <c:pt idx="3">
                    <c:v>2006</c:v>
                  </c:pt>
                  <c:pt idx="4">
                    <c:v>2007</c:v>
                  </c:pt>
                  <c:pt idx="5">
                    <c:v>2008</c:v>
                  </c:pt>
                  <c:pt idx="6">
                    <c:v>2009</c:v>
                  </c:pt>
                  <c:pt idx="7">
                    <c:v>2010</c:v>
                  </c:pt>
                  <c:pt idx="8">
                    <c:v>2011</c:v>
                  </c:pt>
                  <c:pt idx="9">
                    <c:v>2012</c:v>
                  </c:pt>
                  <c:pt idx="10">
                    <c:v>2013</c:v>
                  </c:pt>
                  <c:pt idx="11">
                    <c:v>2014</c:v>
                  </c:pt>
                </c:lvl>
              </c:multiLvlStrCache>
            </c:multiLvlStrRef>
          </c:cat>
          <c:val>
            <c:numRef>
              <c:f>Sheet1!$B$2:$B$13</c:f>
              <c:numCache>
                <c:formatCode>General</c:formatCode>
                <c:ptCount val="12"/>
                <c:pt idx="0">
                  <c:v>0.74</c:v>
                </c:pt>
                <c:pt idx="1">
                  <c:v>0.746</c:v>
                </c:pt>
                <c:pt idx="2">
                  <c:v>0.718</c:v>
                </c:pt>
                <c:pt idx="3">
                  <c:v>0.736</c:v>
                </c:pt>
                <c:pt idx="4">
                  <c:v>0.647</c:v>
                </c:pt>
                <c:pt idx="5">
                  <c:v>0.643</c:v>
                </c:pt>
                <c:pt idx="6">
                  <c:v>0.667</c:v>
                </c:pt>
                <c:pt idx="7">
                  <c:v>0.708</c:v>
                </c:pt>
                <c:pt idx="8">
                  <c:v>0.711</c:v>
                </c:pt>
                <c:pt idx="9">
                  <c:v>0.728</c:v>
                </c:pt>
                <c:pt idx="10">
                  <c:v>0.723</c:v>
                </c:pt>
                <c:pt idx="11">
                  <c:v>0.699</c:v>
                </c:pt>
              </c:numCache>
            </c:numRef>
          </c:val>
          <c:smooth val="0"/>
        </c:ser>
        <c:ser>
          <c:idx val="1"/>
          <c:order val="1"/>
          <c:tx>
            <c:strRef>
              <c:f>Sheet1!$C$1</c:f>
              <c:strCache>
                <c:ptCount val="1"/>
                <c:pt idx="0">
                  <c:v>Proposed ensemble</c:v>
                </c:pt>
              </c:strCache>
            </c:strRef>
          </c:tx>
          <c:spPr>
            <a:solidFill>
              <a:srgbClr val="D97706"/>
            </a:solidFill>
            <a:ln w="31750" cap="flat">
              <a:solidFill>
                <a:srgbClr val="D97706"/>
              </a:solidFill>
              <a:prstDash val="solid"/>
              <a:round/>
            </a:ln>
            <a:effectLst/>
          </c:spPr>
          <c:invertIfNegative val="0"/>
          <c:dLbls>
            <c:numFmt formatCode="#,##0" sourceLinked="0"/>
            <c:txPr>
              <a:bodyPr/>
              <a:lstStyle/>
              <a:p>
                <a:pPr>
                  <a:defRPr b="0" i="0" strike="noStrike" sz="900" u="none">
                    <a:solidFill>
                      <a:srgbClr val="1F2933"/>
                    </a:solidFill>
                    <a:latin typeface="+mn-lt"/>
                  </a:defRPr>
                </a:pPr>
              </a:p>
            </c:txPr>
            <c:showLegendKey val="0"/>
            <c:showVal val="0"/>
            <c:showCatName val="0"/>
            <c:showSerName val="0"/>
            <c:showPercent val="0"/>
            <c:showBubbleSize val="0"/>
            <c:showLeaderLines val="0"/>
          </c:dLbls>
          <c:marker>
            <c:symbol val="circle"/>
            <c:size val="6"/>
            <c:spPr>
              <a:solidFill>
                <a:srgbClr val="D97706"/>
              </a:solidFill>
              <a:ln w="9525" cap="flat">
                <a:solidFill>
                  <a:srgbClr val="D97706"/>
                </a:solidFill>
                <a:prstDash val="solid"/>
                <a:round/>
              </a:ln>
              <a:effectLst/>
            </c:spPr>
          </c:marker>
          <c:cat>
            <c:multiLvlStrRef>
              <c:f>Sheet1!$A$2:$A$13</c:f>
              <c:multiLvlStrCache>
                <c:ptCount val="12"/>
                <c:lvl>
                  <c:pt idx="0">
                    <c:v>2003</c:v>
                  </c:pt>
                  <c:pt idx="1">
                    <c:v>2004</c:v>
                  </c:pt>
                  <c:pt idx="2">
                    <c:v>2005</c:v>
                  </c:pt>
                  <c:pt idx="3">
                    <c:v>2006</c:v>
                  </c:pt>
                  <c:pt idx="4">
                    <c:v>2007</c:v>
                  </c:pt>
                  <c:pt idx="5">
                    <c:v>2008</c:v>
                  </c:pt>
                  <c:pt idx="6">
                    <c:v>2009</c:v>
                  </c:pt>
                  <c:pt idx="7">
                    <c:v>2010</c:v>
                  </c:pt>
                  <c:pt idx="8">
                    <c:v>2011</c:v>
                  </c:pt>
                  <c:pt idx="9">
                    <c:v>2012</c:v>
                  </c:pt>
                  <c:pt idx="10">
                    <c:v>2013</c:v>
                  </c:pt>
                  <c:pt idx="11">
                    <c:v>2014</c:v>
                  </c:pt>
                </c:lvl>
              </c:multiLvlStrCache>
            </c:multiLvlStrRef>
          </c:cat>
          <c:val>
            <c:numRef>
              <c:f>Sheet1!$C$2:$C$13</c:f>
              <c:numCache>
                <c:formatCode>General</c:formatCode>
                <c:ptCount val="12"/>
                <c:pt idx="0">
                  <c:v>0.734</c:v>
                </c:pt>
                <c:pt idx="1">
                  <c:v>0.75</c:v>
                </c:pt>
                <c:pt idx="2">
                  <c:v>0.705</c:v>
                </c:pt>
                <c:pt idx="3">
                  <c:v>0.722</c:v>
                </c:pt>
                <c:pt idx="4">
                  <c:v>0.725</c:v>
                </c:pt>
                <c:pt idx="5">
                  <c:v>0.722</c:v>
                </c:pt>
                <c:pt idx="6">
                  <c:v>0.717</c:v>
                </c:pt>
                <c:pt idx="7">
                  <c:v>0.737</c:v>
                </c:pt>
                <c:pt idx="8">
                  <c:v>0.746</c:v>
                </c:pt>
                <c:pt idx="9">
                  <c:v>0.758</c:v>
                </c:pt>
                <c:pt idx="10">
                  <c:v>0.719</c:v>
                </c:pt>
                <c:pt idx="11">
                  <c:v>0.74</c:v>
                </c:pt>
              </c:numCache>
            </c:numRef>
          </c:val>
          <c:smooth val="0"/>
        </c:ser>
        <c:dLbls>
          <c:numFmt formatCode="#,##0" sourceLinked="0"/>
          <c:txPr>
            <a:bodyPr/>
            <a:lstStyle/>
            <a:p>
              <a:pPr>
                <a:defRPr b="0" i="0" strike="noStrike" sz="9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0.8"/>
          <c:min val="0.6"/>
        </c:scaling>
        <c:delete val="0"/>
        <c:axPos val="l"/>
        <c:majorGridlines>
          <c:spPr>
            <a:ln w="6350" cap="flat">
              <a:solidFill>
                <a:srgbClr val="E5E7E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mn-lt"/>
              </a:defRPr>
            </a:pPr>
            <a:r>
              <a:rPr sz="1200" b="0" i="0" u="none" strike="noStrike">
                <a:solidFill>
                  <a:srgbClr val="1F2933"/>
                </a:solidFill>
                <a:latin typeface="+mn-lt"/>
              </a:rPr>
              <a:t>Isotonic calibration, out-of-sample 2003-2010 (about 4,590 firm-years per decile)</a:t>
            </a:r>
          </a:p>
        </c:rich>
      </c:tx>
      <c:layout/>
      <c:overlay val="0"/>
    </c:title>
    <c:autoTitleDeleted val="0"/>
    <c:plotArea>
      <c:layout/>
      <c:barChart>
        <c:barDir val="col"/>
        <c:grouping val="clustered"/>
        <c:varyColors val="0"/>
        <c:ser>
          <c:idx val="0"/>
          <c:order val="0"/>
          <c:tx>
            <c:strRef>
              <c:f>Sheet1!$B$1</c:f>
              <c:strCache>
                <c:ptCount val="1"/>
                <c:pt idx="0">
                  <c:v>Predicted fraud probability (%)</c:v>
                </c:pt>
              </c:strCache>
            </c:strRef>
          </c:tx>
          <c:spPr>
            <a:solidFill>
              <a:srgbClr val="D97706"/>
            </a:solidFill>
            <a:effectLst/>
          </c:spPr>
          <c:invertIfNegative val="0"/>
          <c:dLbls>
            <c:numFmt formatCode="#,##0" sourceLinked="0"/>
            <c:txPr>
              <a:bodyPr/>
              <a:lstStyle/>
              <a:p>
                <a:pPr>
                  <a:defRPr b="0" i="0" strike="noStrike" sz="900" u="none">
                    <a:solidFill>
                      <a:srgbClr val="1F2933"/>
                    </a:solidFill>
                    <a:latin typeface="+mn-lt"/>
                  </a:defRPr>
                </a:pPr>
              </a:p>
            </c:txPr>
            <c:showLegendKey val="0"/>
            <c:showVal val="0"/>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0</c:v>
                </c:pt>
                <c:pt idx="1">
                  <c:v>0.12</c:v>
                </c:pt>
                <c:pt idx="2">
                  <c:v>0.24</c:v>
                </c:pt>
                <c:pt idx="3">
                  <c:v>0.43</c:v>
                </c:pt>
                <c:pt idx="4">
                  <c:v>0.51</c:v>
                </c:pt>
                <c:pt idx="5">
                  <c:v>0.53</c:v>
                </c:pt>
                <c:pt idx="6">
                  <c:v>0.63</c:v>
                </c:pt>
                <c:pt idx="7">
                  <c:v>1.02</c:v>
                </c:pt>
                <c:pt idx="8">
                  <c:v>1.39</c:v>
                </c:pt>
                <c:pt idx="9">
                  <c:v>2.05</c:v>
                </c:pt>
              </c:numCache>
            </c:numRef>
          </c:val>
        </c:ser>
        <c:ser>
          <c:idx val="1"/>
          <c:order val="1"/>
          <c:tx>
            <c:strRef>
              <c:f>Sheet1!$C$1</c:f>
              <c:strCache>
                <c:ptCount val="1"/>
                <c:pt idx="0">
                  <c:v>Observed fraud rate (%)</c:v>
                </c:pt>
              </c:strCache>
            </c:strRef>
          </c:tx>
          <c:spPr>
            <a:solidFill>
              <a:srgbClr val="0B3C5D"/>
            </a:solidFill>
            <a:effectLst/>
          </c:spPr>
          <c:invertIfNegative val="0"/>
          <c:dLbls>
            <c:numFmt formatCode="#,##0" sourceLinked="0"/>
            <c:txPr>
              <a:bodyPr/>
              <a:lstStyle/>
              <a:p>
                <a:pPr>
                  <a:defRPr b="0" i="0" strike="noStrike" sz="900" u="none">
                    <a:solidFill>
                      <a:srgbClr val="1F2933"/>
                    </a:solidFill>
                    <a:latin typeface="+mn-lt"/>
                  </a:defRPr>
                </a:pPr>
              </a:p>
            </c:txPr>
            <c:showLegendKey val="0"/>
            <c:showVal val="0"/>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0</c:v>
                </c:pt>
                <c:pt idx="1">
                  <c:v>0.13</c:v>
                </c:pt>
                <c:pt idx="2">
                  <c:v>0.26</c:v>
                </c:pt>
                <c:pt idx="3">
                  <c:v>0.41</c:v>
                </c:pt>
                <c:pt idx="4">
                  <c:v>0.61</c:v>
                </c:pt>
                <c:pt idx="5">
                  <c:v>0.48</c:v>
                </c:pt>
                <c:pt idx="6">
                  <c:v>0.61</c:v>
                </c:pt>
                <c:pt idx="7">
                  <c:v>1.07</c:v>
                </c:pt>
                <c:pt idx="8">
                  <c:v>1.35</c:v>
                </c:pt>
                <c:pt idx="9">
                  <c:v>2</c:v>
                </c:pt>
              </c:numCache>
            </c:numRef>
          </c:val>
        </c:ser>
        <c:dLbls>
          <c:numFmt formatCode="#,##0" sourceLinked="0"/>
          <c:txPr>
            <a:bodyPr/>
            <a:lstStyle/>
            <a:p>
              <a:pPr>
                <a:defRPr b="0" i="0" strike="noStrike" sz="900" u="none">
                  <a:solidFill>
                    <a:srgbClr val="1F2933"/>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7280"/>
                    </a:solidFill>
                    <a:latin typeface="+mn-lt"/>
                  </a:defRPr>
                </a:pPr>
                <a:r>
                  <a:rPr sz="1000" b="0" i="0" u="none" strike="noStrike">
                    <a:solidFill>
                      <a:srgbClr val="6B7280"/>
                    </a:solidFill>
                    <a:latin typeface="+mn-lt"/>
                  </a:rPr>
                  <a:t>Score decile (1 = lowest risk)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E5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mn-lt"/>
              </a:defRPr>
            </a:pPr>
            <a:r>
              <a:rPr sz="1200" b="0" i="0" u="none" strike="noStrike">
                <a:solidFill>
                  <a:srgbClr val="1F2933"/>
                </a:solidFill>
                <a:latin typeface="+mn-lt"/>
              </a:rPr>
              <a:t>Top drivers, deployed LGBM+XGB+LR members, 2012-2014 sample</a:t>
            </a:r>
          </a:p>
        </c:rich>
      </c:tx>
      <c:layout/>
      <c:overlay val="0"/>
    </c:title>
    <c:autoTitleDeleted val="0"/>
    <c:plotArea>
      <c:layout/>
      <c:barChart>
        <c:barDir val="bar"/>
        <c:grouping val="clustered"/>
        <c:varyColors val="0"/>
        <c:ser>
          <c:idx val="0"/>
          <c:order val="0"/>
          <c:tx>
            <c:strRef>
              <c:f>Sheet1!$B$1</c:f>
              <c:strCache>
                <c:ptCount val="1"/>
                <c:pt idx="0">
                  <c:v>mean |SHAP|</c:v>
                </c:pt>
              </c:strCache>
            </c:strRef>
          </c:tx>
          <c:spPr>
            <a:solidFill>
              <a:srgbClr val="0B3C5D"/>
            </a:solidFill>
            <a:effectLst/>
          </c:spPr>
          <c:invertIfNegative val="0"/>
          <c:dLbls>
            <c:numFmt formatCode="0.0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cat>
            <c:multiLvlStrRef>
              <c:f>Sheet1!$A$2:$A$12</c:f>
              <c:multiLvlStrCache>
                <c:ptCount val="11"/>
                <c:lvl>
                  <c:pt idx="0">
                    <c:v>cash / assets (rank)</c:v>
                  </c:pt>
                  <c:pt idx="1">
                    <c:v>current ratio (rank)</c:v>
                  </c:pt>
                  <c:pt idx="2">
                    <c:v>log sales (rank)</c:v>
                  </c:pt>
                  <c:pt idx="3">
                    <c:v>log sales</c:v>
                  </c:pt>
                  <c:pt idx="4">
                    <c:v>log assets (rank)</c:v>
                  </c:pt>
                  <c:pt idx="5">
                    <c:v>investments / assets (rank)</c:v>
                  </c:pt>
                  <c:pt idx="6">
                    <c:v>external financing need</c:v>
                  </c:pt>
                  <c:pt idx="7">
                    <c:v>depreciation / assets (rank)</c:v>
                  </c:pt>
                  <c:pt idx="8">
                    <c:v>gross PPE / assets (rank)</c:v>
                  </c:pt>
                  <c:pt idx="9">
                    <c:v>gross PPE / assets</c:v>
                  </c:pt>
                  <c:pt idx="10">
                    <c:v>log assets</c:v>
                  </c:pt>
                </c:lvl>
              </c:multiLvlStrCache>
            </c:multiLvlStrRef>
          </c:cat>
          <c:val>
            <c:numRef>
              <c:f>Sheet1!$B$2:$B$12</c:f>
              <c:numCache>
                <c:formatCode>General</c:formatCode>
                <c:ptCount val="11"/>
                <c:pt idx="0">
                  <c:v>0.089</c:v>
                </c:pt>
                <c:pt idx="1">
                  <c:v>0.096</c:v>
                </c:pt>
                <c:pt idx="2">
                  <c:v>0.11</c:v>
                </c:pt>
                <c:pt idx="3">
                  <c:v>0.112</c:v>
                </c:pt>
                <c:pt idx="4">
                  <c:v>0.113</c:v>
                </c:pt>
                <c:pt idx="5">
                  <c:v>0.13</c:v>
                </c:pt>
                <c:pt idx="6">
                  <c:v>0.132</c:v>
                </c:pt>
                <c:pt idx="7">
                  <c:v>0.14</c:v>
                </c:pt>
                <c:pt idx="8">
                  <c:v>0.155</c:v>
                </c:pt>
                <c:pt idx="9">
                  <c:v>0.174</c:v>
                </c:pt>
                <c:pt idx="10">
                  <c:v>0.216</c:v>
                </c:pt>
              </c:numCache>
            </c:numRef>
          </c:val>
        </c:ser>
        <c:dLbls>
          <c:numFmt formatCode="0.0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0.25"/>
        </c:scaling>
        <c:delete val="0"/>
        <c:axPos val="b"/>
        <c:majorGridlines>
          <c:spPr>
            <a:ln w="6350" cap="flat">
              <a:solidFill>
                <a:srgbClr val="E5E7EB"/>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"Fraud is rare, costly and hard to spot. The 2020 JAR paper showed machine learning can rank firms by fraud risk. We rebuilt that model, found what it could not do, and improved it in five measurable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numbers are approximate recollections of its Table 3; verify them against the paper before presenting. Our own reproduction of the baseline sits at 0.705-0.724 AUC, which is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 line: "Over ten test years the proposed model lifts AUC from 0.705 to 0.732 and catches 55% more of the frauds in the top 5% of the ranking (sensitivity 0.098 to 0.155); both gains hold under a 1000-resample bootstrap clustered by fraud case." If asked about the baseline depth: the paper setting is 10 splits per tree; a deeper variant scores 0.724, against which the AUC gain is small and not significant, but the Sens@5% gain still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challenged on "is this a big improvement": AUC +0.027 is the same size as the gaps the paper itself reports between its competing models. It is a solid minor-project result, not a breakthrough, and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3C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463040"/>
          </a:xfrm>
          <a:prstGeom prst="rect">
            <a:avLst/>
          </a:prstGeom>
          <a:noFill/>
          <a:ln/>
        </p:spPr>
        <p:txBody>
          <a:bodyPr wrap="square" rtlCol="0"/>
          <a:lstStyle>
            <a:lvl1pPr indent="0" marL="0">
              <a:buNone/>
              <a:defRPr lang="en-US" sz="3800" b="1" dirty="0">
                <a:solidFill>
                  <a:schemeClr val="bg1"/>
                </a:solidFill>
              </a:defRPr>
            </a:lvl1pPr>
          </a:lstStyle>
          <a:p>
            <a:pPr indent="0" marL="0">
              <a:buNone/>
            </a:pPr>
            <a:endParaRPr lang="en-US" sz="3800" dirty="0"/>
          </a:p>
        </p:txBody>
      </p:sp>
      <p:sp>
        <p:nvSpPr>
          <p:cNvPr id="3" name="Text 0"/>
          <p:cNvSpPr/>
          <p:nvPr>
            <p:ph idx="101" type="body" hasCustomPrompt="1"/>
          </p:nvPr>
        </p:nvSpPr>
        <p:spPr>
          <a:xfrm>
            <a:off x="548640" y="2971800"/>
            <a:ext cx="8046720" cy="1463040"/>
          </a:xfrm>
          <a:prstGeom prst="rect">
            <a:avLst/>
          </a:prstGeom>
          <a:noFill/>
          <a:ln/>
        </p:spPr>
        <p:txBody>
          <a:bodyPr wrap="square" rtlCol="0"/>
          <a:lstStyle>
            <a:lvl1pPr indent="0" marL="0">
              <a:buNone/>
              <a:defRPr lang="en-US" sz="1600" dirty="0">
                <a:solidFill>
                  <a:srgbClr val="CADCFC"/>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3C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ph idx="101" type="body" hasCustomPrompt="1"/>
          </p:nvPr>
        </p:nvSpPr>
        <p:spPr>
          <a:xfrm>
            <a:off x="548640" y="2971800"/>
            <a:ext cx="8046720" cy="822960"/>
          </a:xfrm>
          <a:prstGeom prst="rect">
            <a:avLst/>
          </a:prstGeom>
          <a:noFill/>
          <a:ln/>
        </p:spPr>
        <p:txBody>
          <a:bodyPr wrap="square" rtlCol="0"/>
          <a:lstStyle>
            <a:lvl1pPr indent="0" marL="0">
              <a:buNone/>
              <a:defRPr lang="en-US" sz="1600" dirty="0">
                <a:solidFill>
                  <a:srgbClr val="CADCFC"/>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2600" b="1" dirty="0">
                <a:solidFill>
                  <a:schemeClr val="tx2"/>
                </a:solidFill>
              </a:defRPr>
            </a:lvl1pPr>
          </a:lstStyle>
          <a:p>
            <a:pPr indent="0" marL="0">
              <a:buNone/>
            </a:pPr>
            <a:endParaRPr lang="en-US" sz="2600" dirty="0"/>
          </a:p>
        </p:txBody>
      </p:sp>
      <p:sp>
        <p:nvSpPr>
          <p:cNvPr id="3" name="Text 0"/>
          <p:cNvSpPr/>
          <p:nvPr/>
        </p:nvSpPr>
        <p:spPr>
          <a:xfrm>
            <a:off x="457200" y="4754880"/>
            <a:ext cx="6858000" cy="274320"/>
          </a:xfrm>
          <a:prstGeom prst="rect">
            <a:avLst/>
          </a:prstGeom>
          <a:noFill/>
          <a:ln/>
        </p:spPr>
        <p:txBody>
          <a:bodyPr wrap="square" lIns="0" tIns="0" rIns="0" bIns="0" rtlCol="0" anchor="ctr"/>
          <a:lstStyle/>
          <a:p>
            <a:pPr indent="0" marL="0">
              <a:buNone/>
            </a:pPr>
            <a:r>
              <a:rPr lang="en-US" sz="900" dirty="0">
                <a:solidFill>
                  <a:srgbClr val="6B7280"/>
                </a:solidFill>
              </a:rPr>
              <a:t>Explainable accounting-fraud detection · extension of Bao et al. (JAR 2020)</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463040"/>
          </a:xfrm>
          <a:prstGeom prst="rect">
            <a:avLst/>
          </a:prstGeom>
          <a:noFill/>
          <a:ln/>
        </p:spPr>
        <p:txBody>
          <a:bodyPr wrap="square" lIns="0" tIns="0" rIns="0" bIns="0" rtlCol="0" anchor="b"/>
          <a:lstStyle/>
          <a:p>
            <a:pPr indent="0" marL="0">
              <a:buNone/>
            </a:pPr>
            <a:r>
              <a:rPr lang="en-US" sz="3800" b="1" dirty="0">
                <a:solidFill>
                  <a:schemeClr val="bg1"/>
                </a:solidFill>
              </a:rPr>
              <a:t>Explainable Accounting-Fraud Detection with Machine Learning</a:t>
            </a:r>
            <a:endParaRPr lang="en-US" sz="3800" dirty="0"/>
          </a:p>
        </p:txBody>
      </p:sp>
      <p:sp>
        <p:nvSpPr>
          <p:cNvPr id="3" name="Text 0"/>
          <p:cNvSpPr/>
          <p:nvPr>
            <p:ph idx="101" type="body" hasCustomPrompt="1"/>
          </p:nvPr>
        </p:nvSpPr>
        <p:spPr>
          <a:xfrm>
            <a:off x="548640" y="2971800"/>
            <a:ext cx="8046720" cy="1463040"/>
          </a:xfrm>
          <a:prstGeom prst="rect">
            <a:avLst/>
          </a:prstGeom>
          <a:noFill/>
          <a:ln/>
        </p:spPr>
        <p:txBody>
          <a:bodyPr wrap="square" lIns="0" tIns="0" rIns="0" bIns="0" rtlCol="0" anchor="t"/>
          <a:lstStyle/>
          <a:p>
            <a:pPr indent="0" marL="0">
              <a:buNone/>
            </a:pPr>
            <a:r>
              <a:rPr lang="en-US" sz="1600" dirty="0">
                <a:solidFill>
                  <a:srgbClr val="CADCFC"/>
                </a:solidFill>
              </a:rPr>
              <a:t>Extending Bao, Ke, Li, Yu &amp; Zhang (Journal of Accounting Research, 2020)</a:t>
            </a:r>
            <a:endParaRPr lang="en-US" sz="1600" dirty="0"/>
          </a:p>
          <a:p>
            <a:pPr indent="0" marL="0">
              <a:buNone/>
            </a:pPr>
            <a:r>
              <a:rPr lang="en-US" sz="1300" dirty="0">
                <a:solidFill>
                  <a:srgbClr val="CADCFC"/>
                </a:solidFill>
              </a:rPr>
              <a:t>Minor project · scale-free features, tuned ensembles, decision metrics, calibrated scores and SHAP explanations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What this talk covers</a:t>
            </a:r>
            <a:endParaRPr lang="en-US" sz="2600" dirty="0"/>
          </a:p>
        </p:txBody>
      </p:sp>
      <p:sp>
        <p:nvSpPr>
          <p:cNvPr id="3" name="n1"/>
          <p:cNvSpPr/>
          <p:nvPr/>
        </p:nvSpPr>
        <p:spPr>
          <a:xfrm>
            <a:off x="457200" y="1188720"/>
            <a:ext cx="502920" cy="502920"/>
          </a:xfrm>
          <a:prstGeom prst="ellipse">
            <a:avLst/>
          </a:prstGeom>
          <a:solidFill>
            <a:srgbClr val="D97706"/>
          </a:solidFill>
          <a:ln w="12700">
            <a:solidFill>
              <a:srgbClr val="D97706"/>
            </a:solidFill>
            <a:prstDash val="solid"/>
          </a:ln>
        </p:spPr>
      </p:sp>
      <p:sp>
        <p:nvSpPr>
          <p:cNvPr id="4" name="Text 2"/>
          <p:cNvSpPr txBox="1"/>
          <p:nvPr/>
        </p:nvSpPr>
        <p:spPr>
          <a:xfrm>
            <a:off x="457200" y="1188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Text 3"/>
          <p:cNvSpPr txBox="1"/>
          <p:nvPr/>
        </p:nvSpPr>
        <p:spPr>
          <a:xfrm>
            <a:off x="1097280" y="1188720"/>
            <a:ext cx="2011680" cy="502920"/>
          </a:xfrm>
          <a:prstGeom prst="rect">
            <a:avLst/>
          </a:prstGeom>
          <a:noFill/>
          <a:ln/>
        </p:spPr>
        <p:txBody>
          <a:bodyPr wrap="square" lIns="0" tIns="0" rIns="0" bIns="0" rtlCol="0" anchor="ctr"/>
          <a:lstStyle/>
          <a:p>
            <a:pPr indent="0" marL="0">
              <a:buNone/>
            </a:pPr>
            <a:r>
              <a:rPr lang="en-US" sz="1500" b="1" dirty="0">
                <a:solidFill>
                  <a:schemeClr val="tx2"/>
                </a:solidFill>
              </a:rPr>
              <a:t>Paper highlights</a:t>
            </a:r>
            <a:endParaRPr lang="en-US" sz="1500" dirty="0"/>
          </a:p>
        </p:txBody>
      </p:sp>
      <p:sp>
        <p:nvSpPr>
          <p:cNvPr id="6" name="Text 4"/>
          <p:cNvSpPr txBox="1"/>
          <p:nvPr/>
        </p:nvSpPr>
        <p:spPr>
          <a:xfrm>
            <a:off x="457200" y="1783080"/>
            <a:ext cx="2651760" cy="822960"/>
          </a:xfrm>
          <a:prstGeom prst="rect">
            <a:avLst/>
          </a:prstGeom>
          <a:noFill/>
          <a:ln/>
        </p:spPr>
        <p:txBody>
          <a:bodyPr wrap="square" lIns="0" tIns="0" rIns="0" bIns="0" rtlCol="0" anchor="t"/>
          <a:lstStyle/>
          <a:p>
            <a:pPr indent="0" marL="0">
              <a:buNone/>
            </a:pPr>
            <a:r>
              <a:rPr lang="en-US" sz="1200" dirty="0">
                <a:solidFill>
                  <a:schemeClr val="tx1"/>
                </a:solidFill>
              </a:rPr>
              <a:t>What Bao et al. (2020) did and found</a:t>
            </a:r>
            <a:endParaRPr lang="en-US" sz="1200" dirty="0"/>
          </a:p>
        </p:txBody>
      </p:sp>
      <p:sp>
        <p:nvSpPr>
          <p:cNvPr id="7" name="n2"/>
          <p:cNvSpPr/>
          <p:nvPr/>
        </p:nvSpPr>
        <p:spPr>
          <a:xfrm>
            <a:off x="3246120" y="1188720"/>
            <a:ext cx="502920" cy="502920"/>
          </a:xfrm>
          <a:prstGeom prst="ellipse">
            <a:avLst/>
          </a:prstGeom>
          <a:solidFill>
            <a:srgbClr val="D97706"/>
          </a:solidFill>
          <a:ln w="12700">
            <a:solidFill>
              <a:srgbClr val="D97706"/>
            </a:solidFill>
            <a:prstDash val="solid"/>
          </a:ln>
        </p:spPr>
      </p:sp>
      <p:sp>
        <p:nvSpPr>
          <p:cNvPr id="8" name="Text 6"/>
          <p:cNvSpPr txBox="1"/>
          <p:nvPr/>
        </p:nvSpPr>
        <p:spPr>
          <a:xfrm>
            <a:off x="3246120" y="1188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9" name="Text 7"/>
          <p:cNvSpPr txBox="1"/>
          <p:nvPr/>
        </p:nvSpPr>
        <p:spPr>
          <a:xfrm>
            <a:off x="3886200" y="1188720"/>
            <a:ext cx="2011680" cy="502920"/>
          </a:xfrm>
          <a:prstGeom prst="rect">
            <a:avLst/>
          </a:prstGeom>
          <a:noFill/>
          <a:ln/>
        </p:spPr>
        <p:txBody>
          <a:bodyPr wrap="square" lIns="0" tIns="0" rIns="0" bIns="0" rtlCol="0" anchor="ctr"/>
          <a:lstStyle/>
          <a:p>
            <a:pPr indent="0" marL="0">
              <a:buNone/>
            </a:pPr>
            <a:r>
              <a:rPr lang="en-US" sz="1500" b="1" dirty="0">
                <a:solidFill>
                  <a:schemeClr val="tx2"/>
                </a:solidFill>
              </a:rPr>
              <a:t>Literature review</a:t>
            </a:r>
            <a:endParaRPr lang="en-US" sz="1500" dirty="0"/>
          </a:p>
        </p:txBody>
      </p:sp>
      <p:sp>
        <p:nvSpPr>
          <p:cNvPr id="10" name="Text 8"/>
          <p:cNvSpPr txBox="1"/>
          <p:nvPr/>
        </p:nvSpPr>
        <p:spPr>
          <a:xfrm>
            <a:off x="3246120" y="1783080"/>
            <a:ext cx="2651760" cy="822960"/>
          </a:xfrm>
          <a:prstGeom prst="rect">
            <a:avLst/>
          </a:prstGeom>
          <a:noFill/>
          <a:ln/>
        </p:spPr>
        <p:txBody>
          <a:bodyPr wrap="square" lIns="0" tIns="0" rIns="0" bIns="0" rtlCol="0" anchor="t"/>
          <a:lstStyle/>
          <a:p>
            <a:pPr indent="0" marL="0">
              <a:buNone/>
            </a:pPr>
            <a:r>
              <a:rPr lang="en-US" sz="1200" dirty="0">
                <a:solidFill>
                  <a:schemeClr val="tx1"/>
                </a:solidFill>
              </a:rPr>
              <a:t>Data, protocol, metrics, benchmarks, limitations</a:t>
            </a:r>
            <a:endParaRPr lang="en-US" sz="1200" dirty="0"/>
          </a:p>
        </p:txBody>
      </p:sp>
      <p:sp>
        <p:nvSpPr>
          <p:cNvPr id="11" name="n3"/>
          <p:cNvSpPr/>
          <p:nvPr/>
        </p:nvSpPr>
        <p:spPr>
          <a:xfrm>
            <a:off x="6035040" y="1188720"/>
            <a:ext cx="502920" cy="502920"/>
          </a:xfrm>
          <a:prstGeom prst="ellipse">
            <a:avLst/>
          </a:prstGeom>
          <a:solidFill>
            <a:srgbClr val="D97706"/>
          </a:solidFill>
          <a:ln w="12700">
            <a:solidFill>
              <a:srgbClr val="D97706"/>
            </a:solidFill>
            <a:prstDash val="solid"/>
          </a:ln>
        </p:spPr>
      </p:sp>
      <p:sp>
        <p:nvSpPr>
          <p:cNvPr id="12" name="Text 10"/>
          <p:cNvSpPr txBox="1"/>
          <p:nvPr/>
        </p:nvSpPr>
        <p:spPr>
          <a:xfrm>
            <a:off x="6035040" y="1188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3" name="Text 11"/>
          <p:cNvSpPr txBox="1"/>
          <p:nvPr/>
        </p:nvSpPr>
        <p:spPr>
          <a:xfrm>
            <a:off x="6675120" y="1188720"/>
            <a:ext cx="2011680" cy="502920"/>
          </a:xfrm>
          <a:prstGeom prst="rect">
            <a:avLst/>
          </a:prstGeom>
          <a:noFill/>
          <a:ln/>
        </p:spPr>
        <p:txBody>
          <a:bodyPr wrap="square" lIns="0" tIns="0" rIns="0" bIns="0" rtlCol="0" anchor="ctr"/>
          <a:lstStyle/>
          <a:p>
            <a:pPr indent="0" marL="0">
              <a:buNone/>
            </a:pPr>
            <a:r>
              <a:rPr lang="en-US" sz="1500" b="1" dirty="0">
                <a:solidFill>
                  <a:schemeClr val="tx2"/>
                </a:solidFill>
              </a:rPr>
              <a:t>Research gaps</a:t>
            </a:r>
            <a:endParaRPr lang="en-US" sz="1500" dirty="0"/>
          </a:p>
        </p:txBody>
      </p:sp>
      <p:sp>
        <p:nvSpPr>
          <p:cNvPr id="14" name="Text 12"/>
          <p:cNvSpPr txBox="1"/>
          <p:nvPr/>
        </p:nvSpPr>
        <p:spPr>
          <a:xfrm>
            <a:off x="6035040" y="1783080"/>
            <a:ext cx="2651760" cy="822960"/>
          </a:xfrm>
          <a:prstGeom prst="rect">
            <a:avLst/>
          </a:prstGeom>
          <a:noFill/>
          <a:ln/>
        </p:spPr>
        <p:txBody>
          <a:bodyPr wrap="square" lIns="0" tIns="0" rIns="0" bIns="0" rtlCol="0" anchor="t"/>
          <a:lstStyle/>
          <a:p>
            <a:pPr indent="0" marL="0">
              <a:buNone/>
            </a:pPr>
            <a:r>
              <a:rPr lang="en-US" sz="1200" dirty="0">
                <a:solidFill>
                  <a:schemeClr val="tx1"/>
                </a:solidFill>
              </a:rPr>
              <a:t>Five concrete things the paper leaves open</a:t>
            </a:r>
            <a:endParaRPr lang="en-US" sz="1200" dirty="0"/>
          </a:p>
        </p:txBody>
      </p:sp>
      <p:sp>
        <p:nvSpPr>
          <p:cNvPr id="15" name="n4"/>
          <p:cNvSpPr/>
          <p:nvPr/>
        </p:nvSpPr>
        <p:spPr>
          <a:xfrm>
            <a:off x="457200" y="2880360"/>
            <a:ext cx="502920" cy="502920"/>
          </a:xfrm>
          <a:prstGeom prst="ellipse">
            <a:avLst/>
          </a:prstGeom>
          <a:solidFill>
            <a:srgbClr val="D97706"/>
          </a:solidFill>
          <a:ln w="12700">
            <a:solidFill>
              <a:srgbClr val="D97706"/>
            </a:solidFill>
            <a:prstDash val="solid"/>
          </a:ln>
        </p:spPr>
      </p:sp>
      <p:sp>
        <p:nvSpPr>
          <p:cNvPr id="16" name="Text 14"/>
          <p:cNvSpPr txBox="1"/>
          <p:nvPr/>
        </p:nvSpPr>
        <p:spPr>
          <a:xfrm>
            <a:off x="457200" y="2880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7" name="Text 15"/>
          <p:cNvSpPr txBox="1"/>
          <p:nvPr/>
        </p:nvSpPr>
        <p:spPr>
          <a:xfrm>
            <a:off x="1097280" y="2880360"/>
            <a:ext cx="2011680" cy="502920"/>
          </a:xfrm>
          <a:prstGeom prst="rect">
            <a:avLst/>
          </a:prstGeom>
          <a:noFill/>
          <a:ln/>
        </p:spPr>
        <p:txBody>
          <a:bodyPr wrap="square" lIns="0" tIns="0" rIns="0" bIns="0" rtlCol="0" anchor="ctr"/>
          <a:lstStyle/>
          <a:p>
            <a:pPr indent="0" marL="0">
              <a:buNone/>
            </a:pPr>
            <a:r>
              <a:rPr lang="en-US" sz="1500" b="1" dirty="0">
                <a:solidFill>
                  <a:schemeClr val="tx2"/>
                </a:solidFill>
              </a:rPr>
              <a:t>Our implementation</a:t>
            </a:r>
            <a:endParaRPr lang="en-US" sz="1500" dirty="0"/>
          </a:p>
        </p:txBody>
      </p:sp>
      <p:sp>
        <p:nvSpPr>
          <p:cNvPr id="18" name="Text 16"/>
          <p:cNvSpPr txBox="1"/>
          <p:nvPr/>
        </p:nvSpPr>
        <p:spPr>
          <a:xfrm>
            <a:off x="457200" y="3474720"/>
            <a:ext cx="2651760" cy="822960"/>
          </a:xfrm>
          <a:prstGeom prst="rect">
            <a:avLst/>
          </a:prstGeom>
          <a:noFill/>
          <a:ln/>
        </p:spPr>
        <p:txBody>
          <a:bodyPr wrap="square" lIns="0" tIns="0" rIns="0" bIns="0" rtlCol="0" anchor="t"/>
          <a:lstStyle/>
          <a:p>
            <a:pPr indent="0" marL="0">
              <a:buNone/>
            </a:pPr>
            <a:r>
              <a:rPr lang="en-US" sz="1200" dirty="0">
                <a:solidFill>
                  <a:schemeClr val="tx1"/>
                </a:solidFill>
              </a:rPr>
              <a:t>Features, models, evaluation rigour, deployment</a:t>
            </a:r>
            <a:endParaRPr lang="en-US" sz="1200" dirty="0"/>
          </a:p>
        </p:txBody>
      </p:sp>
      <p:sp>
        <p:nvSpPr>
          <p:cNvPr id="19" name="n5"/>
          <p:cNvSpPr/>
          <p:nvPr/>
        </p:nvSpPr>
        <p:spPr>
          <a:xfrm>
            <a:off x="3246120" y="2880360"/>
            <a:ext cx="502920" cy="502920"/>
          </a:xfrm>
          <a:prstGeom prst="ellipse">
            <a:avLst/>
          </a:prstGeom>
          <a:solidFill>
            <a:srgbClr val="D97706"/>
          </a:solidFill>
          <a:ln w="12700">
            <a:solidFill>
              <a:srgbClr val="D97706"/>
            </a:solidFill>
            <a:prstDash val="solid"/>
          </a:ln>
        </p:spPr>
      </p:sp>
      <p:sp>
        <p:nvSpPr>
          <p:cNvPr id="20" name="Text 18"/>
          <p:cNvSpPr txBox="1"/>
          <p:nvPr/>
        </p:nvSpPr>
        <p:spPr>
          <a:xfrm>
            <a:off x="3246120" y="2880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1" name="Text 19"/>
          <p:cNvSpPr txBox="1"/>
          <p:nvPr/>
        </p:nvSpPr>
        <p:spPr>
          <a:xfrm>
            <a:off x="3886200" y="2880360"/>
            <a:ext cx="2011680" cy="502920"/>
          </a:xfrm>
          <a:prstGeom prst="rect">
            <a:avLst/>
          </a:prstGeom>
          <a:noFill/>
          <a:ln/>
        </p:spPr>
        <p:txBody>
          <a:bodyPr wrap="square" lIns="0" tIns="0" rIns="0" bIns="0" rtlCol="0" anchor="ctr"/>
          <a:lstStyle/>
          <a:p>
            <a:pPr indent="0" marL="0">
              <a:buNone/>
            </a:pPr>
            <a:r>
              <a:rPr lang="en-US" sz="1500" b="1" dirty="0">
                <a:solidFill>
                  <a:schemeClr val="tx2"/>
                </a:solidFill>
              </a:rPr>
              <a:t>Results</a:t>
            </a:r>
            <a:endParaRPr lang="en-US" sz="1500" dirty="0"/>
          </a:p>
        </p:txBody>
      </p:sp>
      <p:sp>
        <p:nvSpPr>
          <p:cNvPr id="22" name="Text 20"/>
          <p:cNvSpPr txBox="1"/>
          <p:nvPr/>
        </p:nvSpPr>
        <p:spPr>
          <a:xfrm>
            <a:off x="3246120" y="3474720"/>
            <a:ext cx="2651760" cy="822960"/>
          </a:xfrm>
          <a:prstGeom prst="rect">
            <a:avLst/>
          </a:prstGeom>
          <a:noFill/>
          <a:ln/>
        </p:spPr>
        <p:txBody>
          <a:bodyPr wrap="square" lIns="0" tIns="0" rIns="0" bIns="0" rtlCol="0" anchor="t"/>
          <a:lstStyle/>
          <a:p>
            <a:pPr indent="0" marL="0">
              <a:buNone/>
            </a:pPr>
            <a:r>
              <a:rPr lang="en-US" sz="1200" dirty="0">
                <a:solidFill>
                  <a:schemeClr val="tx1"/>
                </a:solidFill>
              </a:rPr>
              <a:t>All numbers, with confidence intervals</a:t>
            </a:r>
            <a:endParaRPr lang="en-US" sz="1200" dirty="0"/>
          </a:p>
        </p:txBody>
      </p:sp>
      <p:sp>
        <p:nvSpPr>
          <p:cNvPr id="23" name="n6"/>
          <p:cNvSpPr/>
          <p:nvPr/>
        </p:nvSpPr>
        <p:spPr>
          <a:xfrm>
            <a:off x="6035040" y="2880360"/>
            <a:ext cx="502920" cy="502920"/>
          </a:xfrm>
          <a:prstGeom prst="ellipse">
            <a:avLst/>
          </a:prstGeom>
          <a:solidFill>
            <a:srgbClr val="D97706"/>
          </a:solidFill>
          <a:ln w="12700">
            <a:solidFill>
              <a:srgbClr val="D97706"/>
            </a:solidFill>
            <a:prstDash val="solid"/>
          </a:ln>
        </p:spPr>
      </p:sp>
      <p:sp>
        <p:nvSpPr>
          <p:cNvPr id="24" name="Text 22"/>
          <p:cNvSpPr txBox="1"/>
          <p:nvPr/>
        </p:nvSpPr>
        <p:spPr>
          <a:xfrm>
            <a:off x="6035040" y="2880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25" name="Text 23"/>
          <p:cNvSpPr txBox="1"/>
          <p:nvPr/>
        </p:nvSpPr>
        <p:spPr>
          <a:xfrm>
            <a:off x="6675120" y="2880360"/>
            <a:ext cx="2011680" cy="502920"/>
          </a:xfrm>
          <a:prstGeom prst="rect">
            <a:avLst/>
          </a:prstGeom>
          <a:noFill/>
          <a:ln/>
        </p:spPr>
        <p:txBody>
          <a:bodyPr wrap="square" lIns="0" tIns="0" rIns="0" bIns="0" rtlCol="0" anchor="ctr"/>
          <a:lstStyle/>
          <a:p>
            <a:pPr indent="0" marL="0">
              <a:buNone/>
            </a:pPr>
            <a:r>
              <a:rPr lang="en-US" sz="1500" b="1" dirty="0">
                <a:solidFill>
                  <a:schemeClr val="tx2"/>
                </a:solidFill>
              </a:rPr>
              <a:t>Future work</a:t>
            </a:r>
            <a:endParaRPr lang="en-US" sz="1500" dirty="0"/>
          </a:p>
        </p:txBody>
      </p:sp>
      <p:sp>
        <p:nvSpPr>
          <p:cNvPr id="26" name="Text 24"/>
          <p:cNvSpPr txBox="1"/>
          <p:nvPr/>
        </p:nvSpPr>
        <p:spPr>
          <a:xfrm>
            <a:off x="6035040" y="3474720"/>
            <a:ext cx="2651760" cy="822960"/>
          </a:xfrm>
          <a:prstGeom prst="rect">
            <a:avLst/>
          </a:prstGeom>
          <a:noFill/>
          <a:ln/>
        </p:spPr>
        <p:txBody>
          <a:bodyPr wrap="square" lIns="0" tIns="0" rIns="0" bIns="0" rtlCol="0" anchor="t"/>
          <a:lstStyle/>
          <a:p>
            <a:pPr indent="0" marL="0">
              <a:buNone/>
            </a:pPr>
            <a:r>
              <a:rPr lang="en-US" sz="1200" dirty="0">
                <a:solidFill>
                  <a:schemeClr val="tx1"/>
                </a:solidFill>
              </a:rPr>
              <a:t>Realistic major-project extensions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lIns="0" tIns="0" rIns="0" bIns="0" rtlCol="0" anchor="ctr"/>
          <a:lstStyle/>
          <a:p>
            <a:pPr indent="0" marL="0">
              <a:buNone/>
            </a:pPr>
            <a:r>
              <a:rPr lang="en-US" sz="3600" b="1" dirty="0">
                <a:solidFill>
                  <a:schemeClr val="bg1"/>
                </a:solidFill>
              </a:rPr>
              <a:t>1 · The research paper</a:t>
            </a:r>
            <a:endParaRPr lang="en-US" sz="3600" dirty="0"/>
          </a:p>
        </p:txBody>
      </p:sp>
      <p:sp>
        <p:nvSpPr>
          <p:cNvPr id="3" name="Text 0"/>
          <p:cNvSpPr/>
          <p:nvPr>
            <p:ph idx="101" type="body" hasCustomPrompt="1"/>
          </p:nvPr>
        </p:nvSpPr>
        <p:spPr>
          <a:xfrm>
            <a:off x="548640" y="2971800"/>
            <a:ext cx="8046720" cy="822960"/>
          </a:xfrm>
          <a:prstGeom prst="rect">
            <a:avLst/>
          </a:prstGeom>
          <a:noFill/>
          <a:ln/>
        </p:spPr>
        <p:txBody>
          <a:bodyPr wrap="square" lIns="0" tIns="0" rIns="0" bIns="0" rtlCol="0" anchor="t"/>
          <a:lstStyle/>
          <a:p>
            <a:pPr indent="0" marL="0">
              <a:buNone/>
            </a:pPr>
            <a:r>
              <a:rPr lang="en-US" sz="1600" dirty="0">
                <a:solidFill>
                  <a:srgbClr val="CADCFC"/>
                </a:solidFill>
              </a:rPr>
              <a:t>Bao, Ke, Li, Yu &amp; Zhang (2020), "Detecting Accounting Fraud in Publicly Traded U.S. Firms Using a Machine Learning Approach", Journal of Accounting Research 58(1). About 330 citations.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Paper highlights and key summary</a:t>
            </a:r>
            <a:endParaRPr lang="en-US" sz="2600" dirty="0"/>
          </a:p>
        </p:txBody>
      </p:sp>
      <p:sp>
        <p:nvSpPr>
          <p:cNvPr id="3" name="Text 1"/>
          <p:cNvSpPr txBox="1"/>
          <p:nvPr/>
        </p:nvSpPr>
        <p:spPr>
          <a:xfrm>
            <a:off x="457200" y="1051560"/>
            <a:ext cx="1920240" cy="685800"/>
          </a:xfrm>
          <a:prstGeom prst="rect">
            <a:avLst/>
          </a:prstGeom>
          <a:noFill/>
          <a:ln/>
        </p:spPr>
        <p:txBody>
          <a:bodyPr wrap="square" lIns="0" tIns="0" rIns="0" bIns="0" rtlCol="0" anchor="ctr"/>
          <a:lstStyle/>
          <a:p>
            <a:pPr algn="ctr" indent="0" marL="0">
              <a:buNone/>
            </a:pPr>
            <a:r>
              <a:rPr lang="en-US" sz="3600" b="1" dirty="0">
                <a:solidFill>
                  <a:srgbClr val="D97706"/>
                </a:solidFill>
              </a:rPr>
              <a:t>28</a:t>
            </a:r>
            <a:endParaRPr lang="en-US" sz="3600" dirty="0"/>
          </a:p>
        </p:txBody>
      </p:sp>
      <p:sp>
        <p:nvSpPr>
          <p:cNvPr id="4" name="Text 2"/>
          <p:cNvSpPr txBox="1"/>
          <p:nvPr/>
        </p:nvSpPr>
        <p:spPr>
          <a:xfrm>
            <a:off x="457200" y="1737360"/>
            <a:ext cx="1920240" cy="502920"/>
          </a:xfrm>
          <a:prstGeom prst="rect">
            <a:avLst/>
          </a:prstGeom>
          <a:noFill/>
          <a:ln/>
        </p:spPr>
        <p:txBody>
          <a:bodyPr wrap="square" lIns="0" tIns="0" rIns="0" bIns="0" rtlCol="0" anchor="t"/>
          <a:lstStyle/>
          <a:p>
            <a:pPr algn="ctr" indent="0" marL="0">
              <a:buNone/>
            </a:pPr>
            <a:r>
              <a:rPr lang="en-US" sz="1100" dirty="0">
                <a:solidFill>
                  <a:srgbClr val="6B7280"/>
                </a:solidFill>
              </a:rPr>
              <a:t>raw accounting items beat 14 expert ratios</a:t>
            </a:r>
            <a:endParaRPr lang="en-US" sz="1100" dirty="0"/>
          </a:p>
        </p:txBody>
      </p:sp>
      <p:sp>
        <p:nvSpPr>
          <p:cNvPr id="5" name="Text 3"/>
          <p:cNvSpPr txBox="1"/>
          <p:nvPr/>
        </p:nvSpPr>
        <p:spPr>
          <a:xfrm>
            <a:off x="2514600" y="1051560"/>
            <a:ext cx="1920240" cy="685800"/>
          </a:xfrm>
          <a:prstGeom prst="rect">
            <a:avLst/>
          </a:prstGeom>
          <a:noFill/>
          <a:ln/>
        </p:spPr>
        <p:txBody>
          <a:bodyPr wrap="square" lIns="0" tIns="0" rIns="0" bIns="0" rtlCol="0" anchor="ctr"/>
          <a:lstStyle/>
          <a:p>
            <a:pPr algn="ctr" indent="0" marL="0">
              <a:buNone/>
            </a:pPr>
            <a:r>
              <a:rPr lang="en-US" sz="3600" b="1" dirty="0">
                <a:solidFill>
                  <a:srgbClr val="D97706"/>
                </a:solidFill>
              </a:rPr>
              <a:t>0.72</a:t>
            </a:r>
            <a:endParaRPr lang="en-US" sz="3600" dirty="0"/>
          </a:p>
        </p:txBody>
      </p:sp>
      <p:sp>
        <p:nvSpPr>
          <p:cNvPr id="6" name="Text 4"/>
          <p:cNvSpPr txBox="1"/>
          <p:nvPr/>
        </p:nvSpPr>
        <p:spPr>
          <a:xfrm>
            <a:off x="2514600" y="1737360"/>
            <a:ext cx="1920240" cy="502920"/>
          </a:xfrm>
          <a:prstGeom prst="rect">
            <a:avLst/>
          </a:prstGeom>
          <a:noFill/>
          <a:ln/>
        </p:spPr>
        <p:txBody>
          <a:bodyPr wrap="square" lIns="0" tIns="0" rIns="0" bIns="0" rtlCol="0" anchor="t"/>
          <a:lstStyle/>
          <a:p>
            <a:pPr algn="ctr" indent="0" marL="0">
              <a:buNone/>
            </a:pPr>
            <a:r>
              <a:rPr lang="en-US" sz="1100" dirty="0">
                <a:solidFill>
                  <a:srgbClr val="6B7280"/>
                </a:solidFill>
              </a:rPr>
              <a:t>AUC of RUSBoost on 2003-2008 test years (as reported, approx.)</a:t>
            </a:r>
            <a:endParaRPr lang="en-US" sz="1100" dirty="0"/>
          </a:p>
        </p:txBody>
      </p:sp>
      <p:sp>
        <p:nvSpPr>
          <p:cNvPr id="7" name="Text 5"/>
          <p:cNvSpPr txBox="1"/>
          <p:nvPr/>
        </p:nvSpPr>
        <p:spPr>
          <a:xfrm>
            <a:off x="4572000" y="1051560"/>
            <a:ext cx="1920240" cy="685800"/>
          </a:xfrm>
          <a:prstGeom prst="rect">
            <a:avLst/>
          </a:prstGeom>
          <a:noFill/>
          <a:ln/>
        </p:spPr>
        <p:txBody>
          <a:bodyPr wrap="square" lIns="0" tIns="0" rIns="0" bIns="0" rtlCol="0" anchor="ctr"/>
          <a:lstStyle/>
          <a:p>
            <a:pPr algn="ctr" indent="0" marL="0">
              <a:buNone/>
            </a:pPr>
            <a:r>
              <a:rPr lang="en-US" sz="3600" b="1" dirty="0">
                <a:solidFill>
                  <a:srgbClr val="D97706"/>
                </a:solidFill>
              </a:rPr>
              <a:t>2 yr</a:t>
            </a:r>
            <a:endParaRPr lang="en-US" sz="3600" dirty="0"/>
          </a:p>
        </p:txBody>
      </p:sp>
      <p:sp>
        <p:nvSpPr>
          <p:cNvPr id="8" name="Text 6"/>
          <p:cNvSpPr txBox="1"/>
          <p:nvPr/>
        </p:nvSpPr>
        <p:spPr>
          <a:xfrm>
            <a:off x="4572000" y="1737360"/>
            <a:ext cx="1920240" cy="502920"/>
          </a:xfrm>
          <a:prstGeom prst="rect">
            <a:avLst/>
          </a:prstGeom>
          <a:noFill/>
          <a:ln/>
        </p:spPr>
        <p:txBody>
          <a:bodyPr wrap="square" lIns="0" tIns="0" rIns="0" bIns="0" rtlCol="0" anchor="t"/>
          <a:lstStyle/>
          <a:p>
            <a:pPr algn="ctr" indent="0" marL="0">
              <a:buNone/>
            </a:pPr>
            <a:r>
              <a:rPr lang="en-US" sz="1100" dirty="0">
                <a:solidFill>
                  <a:srgbClr val="6B7280"/>
                </a:solidFill>
              </a:rPr>
              <a:t>gap between training and test years (fraud is found late)</a:t>
            </a:r>
            <a:endParaRPr lang="en-US" sz="1100" dirty="0"/>
          </a:p>
        </p:txBody>
      </p:sp>
      <p:sp>
        <p:nvSpPr>
          <p:cNvPr id="9" name="Text 7"/>
          <p:cNvSpPr txBox="1"/>
          <p:nvPr/>
        </p:nvSpPr>
        <p:spPr>
          <a:xfrm>
            <a:off x="6629400" y="1051560"/>
            <a:ext cx="2057400" cy="685800"/>
          </a:xfrm>
          <a:prstGeom prst="rect">
            <a:avLst/>
          </a:prstGeom>
          <a:noFill/>
          <a:ln/>
        </p:spPr>
        <p:txBody>
          <a:bodyPr wrap="square" lIns="0" tIns="0" rIns="0" bIns="0" rtlCol="0" anchor="ctr"/>
          <a:lstStyle/>
          <a:p>
            <a:pPr algn="ctr" indent="0" marL="0">
              <a:buNone/>
            </a:pPr>
            <a:r>
              <a:rPr lang="en-US" sz="3600" b="1" dirty="0">
                <a:solidFill>
                  <a:srgbClr val="D97706"/>
                </a:solidFill>
              </a:rPr>
              <a:t>NDCG@k</a:t>
            </a:r>
            <a:endParaRPr lang="en-US" sz="3600" dirty="0"/>
          </a:p>
        </p:txBody>
      </p:sp>
      <p:sp>
        <p:nvSpPr>
          <p:cNvPr id="10" name="Text 8"/>
          <p:cNvSpPr txBox="1"/>
          <p:nvPr/>
        </p:nvSpPr>
        <p:spPr>
          <a:xfrm>
            <a:off x="6629400" y="1737360"/>
            <a:ext cx="2057400" cy="502920"/>
          </a:xfrm>
          <a:prstGeom prst="rect">
            <a:avLst/>
          </a:prstGeom>
          <a:noFill/>
          <a:ln/>
        </p:spPr>
        <p:txBody>
          <a:bodyPr wrap="square" lIns="0" tIns="0" rIns="0" bIns="0" rtlCol="0" anchor="t"/>
          <a:lstStyle/>
          <a:p>
            <a:pPr algn="ctr" indent="0" marL="0">
              <a:buNone/>
            </a:pPr>
            <a:r>
              <a:rPr lang="en-US" sz="1100" dirty="0">
                <a:solidFill>
                  <a:srgbClr val="6B7280"/>
                </a:solidFill>
              </a:rPr>
              <a:t>new metric: quality of the TOP of the ranking</a:t>
            </a:r>
            <a:endParaRPr lang="en-US" sz="1100" dirty="0"/>
          </a:p>
        </p:txBody>
      </p:sp>
      <p:sp>
        <p:nvSpPr>
          <p:cNvPr id="11" name="Text 9"/>
          <p:cNvSpPr txBox="1"/>
          <p:nvPr/>
        </p:nvSpPr>
        <p:spPr>
          <a:xfrm>
            <a:off x="457200" y="2423160"/>
            <a:ext cx="822960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Problem: predict which U.S. public firms will be charged with accounting fraud (SEC AAERs) one year ahead.</a:t>
            </a:r>
            <a:endParaRPr lang="en-US" sz="1300" dirty="0"/>
          </a:p>
          <a:p>
            <a:pPr marL="342900" indent="-342900">
              <a:spcAft>
                <a:spcPts val="600"/>
              </a:spcAft>
              <a:buSzPct val="100000"/>
              <a:buChar char="•"/>
            </a:pPr>
            <a:r>
              <a:rPr lang="en-US" sz="1300" dirty="0">
                <a:solidFill>
                  <a:schemeClr val="tx1"/>
                </a:solidFill>
              </a:rPr>
              <a:t>Method: RUSBoost, boosting plus random under-sampling, built for rare events (0.66% of firm-years are fraud).</a:t>
            </a:r>
            <a:endParaRPr lang="en-US" sz="1300" dirty="0"/>
          </a:p>
          <a:p>
            <a:pPr marL="342900" indent="-342900">
              <a:spcAft>
                <a:spcPts val="600"/>
              </a:spcAft>
              <a:buSzPct val="100000"/>
              <a:buChar char="•"/>
            </a:pPr>
            <a:r>
              <a:rPr lang="en-US" sz="1300" dirty="0">
                <a:solidFill>
                  <a:schemeClr val="tx1"/>
                </a:solidFill>
              </a:rPr>
              <a:t>Inputs: 28 raw Compustat items chosen from accounting theory, instead of hand-made ratios.</a:t>
            </a:r>
            <a:endParaRPr lang="en-US" sz="1300" dirty="0"/>
          </a:p>
          <a:p>
            <a:pPr marL="342900" indent="-342900">
              <a:spcAft>
                <a:spcPts val="600"/>
              </a:spcAft>
              <a:buSzPct val="100000"/>
              <a:buChar char="•"/>
            </a:pPr>
            <a:r>
              <a:rPr lang="en-US" sz="1300" dirty="0">
                <a:solidFill>
                  <a:schemeClr val="tx1"/>
                </a:solidFill>
              </a:rPr>
              <a:t>Benchmarks: Dechow et al. (2011) F-score logistic model and Cecchini et al. (2010) SVM with a financial kernel.</a:t>
            </a:r>
            <a:endParaRPr lang="en-US" sz="1300" dirty="0"/>
          </a:p>
          <a:p>
            <a:pPr marL="342900" indent="-342900">
              <a:spcAft>
                <a:spcPts val="600"/>
              </a:spcAft>
              <a:buSzPct val="100000"/>
              <a:buChar char="•"/>
            </a:pPr>
            <a:r>
              <a:rPr lang="en-US" sz="1300" dirty="0">
                <a:solidFill>
                  <a:schemeClr val="tx1"/>
                </a:solidFill>
              </a:rPr>
              <a:t>Finding: the ensemble on raw items outperforms both benchmarks on AUC and especially at the top of the list (NDCG@1%).</a:t>
            </a:r>
            <a:endParaRPr lang="en-US" sz="1300" dirty="0"/>
          </a:p>
          <a:p>
            <a:pPr marL="342900" indent="-342900">
              <a:spcAft>
                <a:spcPts val="600"/>
              </a:spcAft>
              <a:buSzPct val="100000"/>
              <a:buChar char="•"/>
            </a:pPr>
            <a:r>
              <a:rPr lang="en-US" sz="1300" dirty="0">
                <a:solidFill>
                  <a:schemeClr val="tx1"/>
                </a:solidFill>
              </a:rPr>
              <a:t>Why it matters: a regulator or auditor can only investigate a few firms; ranking quality at the top is what counts.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Literature review: data and labels</a:t>
            </a:r>
            <a:endParaRPr lang="en-US" sz="2600" dirty="0"/>
          </a:p>
        </p:txBody>
      </p:sp>
      <p:sp>
        <p:nvSpPr>
          <p:cNvPr id="3" name="Fraud labels (AAERs)"/>
          <p:cNvSpPr/>
          <p:nvPr/>
        </p:nvSpPr>
        <p:spPr>
          <a:xfrm>
            <a:off x="457200" y="1097280"/>
            <a:ext cx="4023360" cy="1737360"/>
          </a:xfrm>
          <a:prstGeom prst="roundRect">
            <a:avLst>
              <a:gd name="adj" fmla="val 4211"/>
            </a:avLst>
          </a:prstGeom>
          <a:solidFill>
            <a:srgbClr val="EEF2F7"/>
          </a:solidFill>
          <a:ln w="12700">
            <a:solidFill>
              <a:srgbClr val="EEF2F7"/>
            </a:solidFill>
            <a:prstDash val="solid"/>
          </a:ln>
        </p:spPr>
      </p:sp>
      <p:sp>
        <p:nvSpPr>
          <p:cNvPr id="4" name="Text 2"/>
          <p:cNvSpPr txBox="1"/>
          <p:nvPr/>
        </p:nvSpPr>
        <p:spPr>
          <a:xfrm>
            <a:off x="594360" y="1188720"/>
            <a:ext cx="3749040" cy="320040"/>
          </a:xfrm>
          <a:prstGeom prst="rect">
            <a:avLst/>
          </a:prstGeom>
          <a:noFill/>
          <a:ln/>
        </p:spPr>
        <p:txBody>
          <a:bodyPr wrap="square" lIns="0" tIns="0" rIns="0" bIns="0" rtlCol="0" anchor="ctr"/>
          <a:lstStyle/>
          <a:p>
            <a:pPr indent="0" marL="0">
              <a:buNone/>
            </a:pPr>
            <a:r>
              <a:rPr lang="en-US" sz="1300" b="1" dirty="0">
                <a:solidFill>
                  <a:schemeClr val="tx2"/>
                </a:solidFill>
              </a:rPr>
              <a:t>Fraud labels (AAERs)</a:t>
            </a:r>
            <a:endParaRPr lang="en-US" sz="1300" dirty="0"/>
          </a:p>
        </p:txBody>
      </p:sp>
      <p:sp>
        <p:nvSpPr>
          <p:cNvPr id="5" name="Text 3"/>
          <p:cNvSpPr txBox="1"/>
          <p:nvPr/>
        </p:nvSpPr>
        <p:spPr>
          <a:xfrm>
            <a:off x="594360" y="1508760"/>
            <a:ext cx="3749040" cy="1234440"/>
          </a:xfrm>
          <a:prstGeom prst="rect">
            <a:avLst/>
          </a:prstGeom>
          <a:noFill/>
          <a:ln/>
        </p:spPr>
        <p:txBody>
          <a:bodyPr wrap="square" lIns="0" tIns="0" rIns="0" bIns="0" rtlCol="0" anchor="t"/>
          <a:lstStyle/>
          <a:p>
            <a:pPr indent="0" marL="0">
              <a:buNone/>
            </a:pPr>
            <a:r>
              <a:rPr lang="en-US" sz="1150" dirty="0">
                <a:solidFill>
                  <a:schemeClr val="tx1"/>
                </a:solidFill>
              </a:rPr>
              <a:t>SEC Accounting and Auditing Enforcement Releases compiled by UC Berkeley CFRM (May 1982 to Sep 2016), extended by the authors by hand to Dec 2018 (AAER #4012). A firm-year is "fraud" if it is covered by an AAER. Serial frauds share one case id (p_aaer).</a:t>
            </a:r>
            <a:endParaRPr lang="en-US" sz="1150" dirty="0"/>
          </a:p>
        </p:txBody>
      </p:sp>
      <p:sp>
        <p:nvSpPr>
          <p:cNvPr id="6" name="Financial data (Compustat)"/>
          <p:cNvSpPr/>
          <p:nvPr/>
        </p:nvSpPr>
        <p:spPr>
          <a:xfrm>
            <a:off x="4663440" y="1097280"/>
            <a:ext cx="4023360" cy="1737360"/>
          </a:xfrm>
          <a:prstGeom prst="roundRect">
            <a:avLst>
              <a:gd name="adj" fmla="val 4211"/>
            </a:avLst>
          </a:prstGeom>
          <a:solidFill>
            <a:srgbClr val="EEF2F7"/>
          </a:solidFill>
          <a:ln w="12700">
            <a:solidFill>
              <a:srgbClr val="EEF2F7"/>
            </a:solidFill>
            <a:prstDash val="solid"/>
          </a:ln>
        </p:spPr>
      </p:sp>
      <p:sp>
        <p:nvSpPr>
          <p:cNvPr id="7" name="Text 5"/>
          <p:cNvSpPr txBox="1"/>
          <p:nvPr/>
        </p:nvSpPr>
        <p:spPr>
          <a:xfrm>
            <a:off x="4800600" y="1188720"/>
            <a:ext cx="3749040" cy="320040"/>
          </a:xfrm>
          <a:prstGeom prst="rect">
            <a:avLst/>
          </a:prstGeom>
          <a:noFill/>
          <a:ln/>
        </p:spPr>
        <p:txBody>
          <a:bodyPr wrap="square" lIns="0" tIns="0" rIns="0" bIns="0" rtlCol="0" anchor="ctr"/>
          <a:lstStyle/>
          <a:p>
            <a:pPr indent="0" marL="0">
              <a:buNone/>
            </a:pPr>
            <a:r>
              <a:rPr lang="en-US" sz="1300" b="1" dirty="0">
                <a:solidFill>
                  <a:schemeClr val="tx2"/>
                </a:solidFill>
              </a:rPr>
              <a:t>Financial data (Compustat)</a:t>
            </a:r>
            <a:endParaRPr lang="en-US" sz="1300" dirty="0"/>
          </a:p>
        </p:txBody>
      </p:sp>
      <p:sp>
        <p:nvSpPr>
          <p:cNvPr id="8" name="Text 6"/>
          <p:cNvSpPr txBox="1"/>
          <p:nvPr/>
        </p:nvSpPr>
        <p:spPr>
          <a:xfrm>
            <a:off x="4800600" y="1508760"/>
            <a:ext cx="3749040" cy="1234440"/>
          </a:xfrm>
          <a:prstGeom prst="rect">
            <a:avLst/>
          </a:prstGeom>
          <a:noFill/>
          <a:ln/>
        </p:spPr>
        <p:txBody>
          <a:bodyPr wrap="square" lIns="0" tIns="0" rIns="0" bIns="0" rtlCol="0" anchor="t"/>
          <a:lstStyle/>
          <a:p>
            <a:pPr indent="0" marL="0">
              <a:buNone/>
            </a:pPr>
            <a:r>
              <a:rPr lang="en-US" sz="1150" dirty="0">
                <a:solidFill>
                  <a:schemeClr val="tx1"/>
                </a:solidFill>
              </a:rPr>
              <a:t>Annual fundamentals, fiscal years 1991-2014. 146,045 firm-years from 18,444 firms; 964 fraud firm-years in 412 AAER cases, a base rate of 0.66%.</a:t>
            </a:r>
            <a:endParaRPr lang="en-US" sz="1150" dirty="0"/>
          </a:p>
        </p:txBody>
      </p:sp>
      <p:sp>
        <p:nvSpPr>
          <p:cNvPr id="9" name="28 raw items"/>
          <p:cNvSpPr/>
          <p:nvPr/>
        </p:nvSpPr>
        <p:spPr>
          <a:xfrm>
            <a:off x="457200" y="2971800"/>
            <a:ext cx="4023360" cy="1600200"/>
          </a:xfrm>
          <a:prstGeom prst="roundRect">
            <a:avLst>
              <a:gd name="adj" fmla="val 4571"/>
            </a:avLst>
          </a:prstGeom>
          <a:solidFill>
            <a:srgbClr val="EEF2F7"/>
          </a:solidFill>
          <a:ln w="12700">
            <a:solidFill>
              <a:srgbClr val="EEF2F7"/>
            </a:solidFill>
            <a:prstDash val="solid"/>
          </a:ln>
        </p:spPr>
      </p:sp>
      <p:sp>
        <p:nvSpPr>
          <p:cNvPr id="10" name="Text 8"/>
          <p:cNvSpPr txBox="1"/>
          <p:nvPr/>
        </p:nvSpPr>
        <p:spPr>
          <a:xfrm>
            <a:off x="594360" y="3063240"/>
            <a:ext cx="3749040" cy="320040"/>
          </a:xfrm>
          <a:prstGeom prst="rect">
            <a:avLst/>
          </a:prstGeom>
          <a:noFill/>
          <a:ln/>
        </p:spPr>
        <p:txBody>
          <a:bodyPr wrap="square" lIns="0" tIns="0" rIns="0" bIns="0" rtlCol="0" anchor="ctr"/>
          <a:lstStyle/>
          <a:p>
            <a:pPr indent="0" marL="0">
              <a:buNone/>
            </a:pPr>
            <a:r>
              <a:rPr lang="en-US" sz="1300" b="1" dirty="0">
                <a:solidFill>
                  <a:schemeClr val="tx2"/>
                </a:solidFill>
              </a:rPr>
              <a:t>28 raw items</a:t>
            </a:r>
            <a:endParaRPr lang="en-US" sz="1300" dirty="0"/>
          </a:p>
        </p:txBody>
      </p:sp>
      <p:sp>
        <p:nvSpPr>
          <p:cNvPr id="11" name="Text 9"/>
          <p:cNvSpPr txBox="1"/>
          <p:nvPr/>
        </p:nvSpPr>
        <p:spPr>
          <a:xfrm>
            <a:off x="594360" y="3383280"/>
            <a:ext cx="3749040" cy="1097280"/>
          </a:xfrm>
          <a:prstGeom prst="rect">
            <a:avLst/>
          </a:prstGeom>
          <a:noFill/>
          <a:ln/>
        </p:spPr>
        <p:txBody>
          <a:bodyPr wrap="square" lIns="0" tIns="0" rIns="0" bIns="0" rtlCol="0" anchor="t"/>
          <a:lstStyle/>
          <a:p>
            <a:pPr indent="0" marL="0">
              <a:buNone/>
            </a:pPr>
            <a:r>
              <a:rPr lang="en-US" sz="1150" dirty="0">
                <a:solidFill>
                  <a:schemeClr val="tx1"/>
                </a:solidFill>
              </a:rPr>
              <a:t>act, ap, at, ceq, che, cogs, csho, dlc, dltis, dltt, dp, ib, invt, ivao, ivst, lct, lt, ni, ppegt, pstk, re, rect, sale, sstk, txp, txt, xint, prcc_f</a:t>
            </a:r>
            <a:endParaRPr lang="en-US" sz="1150" dirty="0"/>
          </a:p>
        </p:txBody>
      </p:sp>
      <p:sp>
        <p:nvSpPr>
          <p:cNvPr id="12" name="14 financial ratios (Dechow et al.)"/>
          <p:cNvSpPr/>
          <p:nvPr/>
        </p:nvSpPr>
        <p:spPr>
          <a:xfrm>
            <a:off x="4663440" y="2971800"/>
            <a:ext cx="4023360" cy="1600200"/>
          </a:xfrm>
          <a:prstGeom prst="roundRect">
            <a:avLst>
              <a:gd name="adj" fmla="val 4571"/>
            </a:avLst>
          </a:prstGeom>
          <a:solidFill>
            <a:srgbClr val="EEF2F7"/>
          </a:solidFill>
          <a:ln w="12700">
            <a:solidFill>
              <a:srgbClr val="EEF2F7"/>
            </a:solidFill>
            <a:prstDash val="solid"/>
          </a:ln>
        </p:spPr>
      </p:sp>
      <p:sp>
        <p:nvSpPr>
          <p:cNvPr id="13" name="Text 11"/>
          <p:cNvSpPr txBox="1"/>
          <p:nvPr/>
        </p:nvSpPr>
        <p:spPr>
          <a:xfrm>
            <a:off x="4800600" y="3063240"/>
            <a:ext cx="3749040" cy="320040"/>
          </a:xfrm>
          <a:prstGeom prst="rect">
            <a:avLst/>
          </a:prstGeom>
          <a:noFill/>
          <a:ln/>
        </p:spPr>
        <p:txBody>
          <a:bodyPr wrap="square" lIns="0" tIns="0" rIns="0" bIns="0" rtlCol="0" anchor="ctr"/>
          <a:lstStyle/>
          <a:p>
            <a:pPr indent="0" marL="0">
              <a:buNone/>
            </a:pPr>
            <a:r>
              <a:rPr lang="en-US" sz="1300" b="1" dirty="0">
                <a:solidFill>
                  <a:schemeClr val="tx2"/>
                </a:solidFill>
              </a:rPr>
              <a:t>14 financial ratios (Dechow et al.)</a:t>
            </a:r>
            <a:endParaRPr lang="en-US" sz="1300" dirty="0"/>
          </a:p>
        </p:txBody>
      </p:sp>
      <p:sp>
        <p:nvSpPr>
          <p:cNvPr id="14" name="Text 12"/>
          <p:cNvSpPr txBox="1"/>
          <p:nvPr/>
        </p:nvSpPr>
        <p:spPr>
          <a:xfrm>
            <a:off x="4800600" y="3383280"/>
            <a:ext cx="3749040" cy="1097280"/>
          </a:xfrm>
          <a:prstGeom prst="rect">
            <a:avLst/>
          </a:prstGeom>
          <a:noFill/>
          <a:ln/>
        </p:spPr>
        <p:txBody>
          <a:bodyPr wrap="square" lIns="0" tIns="0" rIns="0" bIns="0" rtlCol="0" anchor="t"/>
          <a:lstStyle/>
          <a:p>
            <a:pPr indent="0" marL="0">
              <a:buNone/>
            </a:pPr>
            <a:r>
              <a:rPr lang="en-US" sz="1150" dirty="0">
                <a:solidFill>
                  <a:schemeClr val="tx1"/>
                </a:solidFill>
              </a:rPr>
              <a:t>dch_wc, ch_rsst, dch_rec, dch_inv, soft_assets, ch_cs, ch_cm, ch_roa, issue, bm, dpi, reoa, EBIT, ch_fcf. The paper shows raw items beat these ratios, so the hand-made features of prior work were not helping the model.</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Literature review: protocol and model</a:t>
            </a:r>
            <a:endParaRPr lang="en-US" sz="2600" dirty="0"/>
          </a:p>
        </p:txBody>
      </p:sp>
      <p:sp>
        <p:nvSpPr>
          <p:cNvPr id="3" name="step0"/>
          <p:cNvSpPr/>
          <p:nvPr/>
        </p:nvSpPr>
        <p:spPr>
          <a:xfrm>
            <a:off x="457200" y="1170432"/>
            <a:ext cx="457200" cy="457200"/>
          </a:xfrm>
          <a:prstGeom prst="ellipse">
            <a:avLst/>
          </a:prstGeom>
          <a:solidFill>
            <a:srgbClr val="0B3C5D"/>
          </a:solidFill>
          <a:ln w="12700">
            <a:solidFill>
              <a:srgbClr val="0B3C5D"/>
            </a:solidFill>
            <a:prstDash val="solid"/>
          </a:ln>
        </p:spPr>
      </p:sp>
      <p:sp>
        <p:nvSpPr>
          <p:cNvPr id="4" name="Text 2"/>
          <p:cNvSpPr txBox="1"/>
          <p:nvPr/>
        </p:nvSpPr>
        <p:spPr>
          <a:xfrm>
            <a:off x="457200" y="11704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97280" y="1097280"/>
            <a:ext cx="2103120" cy="603504"/>
          </a:xfrm>
          <a:prstGeom prst="rect">
            <a:avLst/>
          </a:prstGeom>
          <a:noFill/>
          <a:ln/>
        </p:spPr>
        <p:txBody>
          <a:bodyPr wrap="square" lIns="0" tIns="0" rIns="0" bIns="0" rtlCol="0" anchor="ctr"/>
          <a:lstStyle/>
          <a:p>
            <a:pPr indent="0" marL="0">
              <a:buNone/>
            </a:pPr>
            <a:r>
              <a:rPr lang="en-US" sz="1400" b="1" dirty="0">
                <a:solidFill>
                  <a:schemeClr val="tx2"/>
                </a:solidFill>
              </a:rPr>
              <a:t>Expanding window</a:t>
            </a:r>
            <a:endParaRPr lang="en-US" sz="1400" dirty="0"/>
          </a:p>
        </p:txBody>
      </p:sp>
      <p:sp>
        <p:nvSpPr>
          <p:cNvPr id="6" name="Text 4"/>
          <p:cNvSpPr txBox="1"/>
          <p:nvPr/>
        </p:nvSpPr>
        <p:spPr>
          <a:xfrm>
            <a:off x="3200400" y="1097280"/>
            <a:ext cx="5486400" cy="603504"/>
          </a:xfrm>
          <a:prstGeom prst="rect">
            <a:avLst/>
          </a:prstGeom>
          <a:noFill/>
          <a:ln/>
        </p:spPr>
        <p:txBody>
          <a:bodyPr wrap="square" lIns="0" tIns="0" rIns="0" bIns="0" rtlCol="0" anchor="ctr"/>
          <a:lstStyle/>
          <a:p>
            <a:pPr indent="0" marL="0">
              <a:buNone/>
            </a:pPr>
            <a:r>
              <a:rPr lang="en-US" sz="1200" dirty="0">
                <a:solidFill>
                  <a:schemeClr val="tx1"/>
                </a:solidFill>
              </a:rPr>
              <a:t>Train on 1991 to T-2, test on year T, for T = 2003 to 2014. Mimics how a regulator would use it.</a:t>
            </a:r>
            <a:endParaRPr lang="en-US" sz="1200" dirty="0"/>
          </a:p>
        </p:txBody>
      </p:sp>
      <p:sp>
        <p:nvSpPr>
          <p:cNvPr id="7" name="step1"/>
          <p:cNvSpPr/>
          <p:nvPr/>
        </p:nvSpPr>
        <p:spPr>
          <a:xfrm>
            <a:off x="457200" y="1883664"/>
            <a:ext cx="457200" cy="457200"/>
          </a:xfrm>
          <a:prstGeom prst="ellipse">
            <a:avLst/>
          </a:prstGeom>
          <a:solidFill>
            <a:srgbClr val="0B3C5D"/>
          </a:solidFill>
          <a:ln w="12700">
            <a:solidFill>
              <a:srgbClr val="0B3C5D"/>
            </a:solidFill>
            <a:prstDash val="solid"/>
          </a:ln>
        </p:spPr>
      </p:sp>
      <p:sp>
        <p:nvSpPr>
          <p:cNvPr id="8" name="Text 6"/>
          <p:cNvSpPr txBox="1"/>
          <p:nvPr/>
        </p:nvSpPr>
        <p:spPr>
          <a:xfrm>
            <a:off x="457200" y="188366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1097280" y="1810512"/>
            <a:ext cx="2103120" cy="603504"/>
          </a:xfrm>
          <a:prstGeom prst="rect">
            <a:avLst/>
          </a:prstGeom>
          <a:noFill/>
          <a:ln/>
        </p:spPr>
        <p:txBody>
          <a:bodyPr wrap="square" lIns="0" tIns="0" rIns="0" bIns="0" rtlCol="0" anchor="ctr"/>
          <a:lstStyle/>
          <a:p>
            <a:pPr indent="0" marL="0">
              <a:buNone/>
            </a:pPr>
            <a:r>
              <a:rPr lang="en-US" sz="1400" b="1" dirty="0">
                <a:solidFill>
                  <a:schemeClr val="tx2"/>
                </a:solidFill>
              </a:rPr>
              <a:t>2-year gap</a:t>
            </a:r>
            <a:endParaRPr lang="en-US" sz="1400" dirty="0"/>
          </a:p>
        </p:txBody>
      </p:sp>
      <p:sp>
        <p:nvSpPr>
          <p:cNvPr id="10" name="Text 8"/>
          <p:cNvSpPr txBox="1"/>
          <p:nvPr/>
        </p:nvSpPr>
        <p:spPr>
          <a:xfrm>
            <a:off x="3200400" y="1810512"/>
            <a:ext cx="5486400" cy="603504"/>
          </a:xfrm>
          <a:prstGeom prst="rect">
            <a:avLst/>
          </a:prstGeom>
          <a:noFill/>
          <a:ln/>
        </p:spPr>
        <p:txBody>
          <a:bodyPr wrap="square" lIns="0" tIns="0" rIns="0" bIns="0" rtlCol="0" anchor="ctr"/>
          <a:lstStyle/>
          <a:p>
            <a:pPr indent="0" marL="0">
              <a:buNone/>
            </a:pPr>
            <a:r>
              <a:rPr lang="en-US" sz="1200" dirty="0">
                <a:solidFill>
                  <a:schemeClr val="tx1"/>
                </a:solidFill>
              </a:rPr>
              <a:t>Fraud in year T-1 is usually not public yet, so T-1 is dropped from training. Prevents leakage of undiscovered fraud.</a:t>
            </a:r>
            <a:endParaRPr lang="en-US" sz="1200" dirty="0"/>
          </a:p>
        </p:txBody>
      </p:sp>
      <p:sp>
        <p:nvSpPr>
          <p:cNvPr id="11" name="step2"/>
          <p:cNvSpPr/>
          <p:nvPr/>
        </p:nvSpPr>
        <p:spPr>
          <a:xfrm>
            <a:off x="457200" y="2596896"/>
            <a:ext cx="457200" cy="457200"/>
          </a:xfrm>
          <a:prstGeom prst="ellipse">
            <a:avLst/>
          </a:prstGeom>
          <a:solidFill>
            <a:srgbClr val="0B3C5D"/>
          </a:solidFill>
          <a:ln w="12700">
            <a:solidFill>
              <a:srgbClr val="0B3C5D"/>
            </a:solidFill>
            <a:prstDash val="solid"/>
          </a:ln>
        </p:spPr>
      </p:sp>
      <p:sp>
        <p:nvSpPr>
          <p:cNvPr id="12" name="Text 10"/>
          <p:cNvSpPr txBox="1"/>
          <p:nvPr/>
        </p:nvSpPr>
        <p:spPr>
          <a:xfrm>
            <a:off x="457200" y="25968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Text 11"/>
          <p:cNvSpPr txBox="1"/>
          <p:nvPr/>
        </p:nvSpPr>
        <p:spPr>
          <a:xfrm>
            <a:off x="1097280" y="2523744"/>
            <a:ext cx="2103120" cy="603504"/>
          </a:xfrm>
          <a:prstGeom prst="rect">
            <a:avLst/>
          </a:prstGeom>
          <a:noFill/>
          <a:ln/>
        </p:spPr>
        <p:txBody>
          <a:bodyPr wrap="square" lIns="0" tIns="0" rIns="0" bIns="0" rtlCol="0" anchor="ctr"/>
          <a:lstStyle/>
          <a:p>
            <a:pPr indent="0" marL="0">
              <a:buNone/>
            </a:pPr>
            <a:r>
              <a:rPr lang="en-US" sz="1400" b="1" dirty="0">
                <a:solidFill>
                  <a:schemeClr val="tx2"/>
                </a:solidFill>
              </a:rPr>
              <a:t>Serial-fraud masking</a:t>
            </a:r>
            <a:endParaRPr lang="en-US" sz="1400" dirty="0"/>
          </a:p>
        </p:txBody>
      </p:sp>
      <p:sp>
        <p:nvSpPr>
          <p:cNvPr id="14" name="Text 12"/>
          <p:cNvSpPr txBox="1"/>
          <p:nvPr/>
        </p:nvSpPr>
        <p:spPr>
          <a:xfrm>
            <a:off x="3200400" y="2523744"/>
            <a:ext cx="5486400" cy="603504"/>
          </a:xfrm>
          <a:prstGeom prst="rect">
            <a:avLst/>
          </a:prstGeom>
          <a:noFill/>
          <a:ln/>
        </p:spPr>
        <p:txBody>
          <a:bodyPr wrap="square" lIns="0" tIns="0" rIns="0" bIns="0" rtlCol="0" anchor="ctr"/>
          <a:lstStyle/>
          <a:p>
            <a:pPr indent="0" marL="0">
              <a:buNone/>
            </a:pPr>
            <a:r>
              <a:rPr lang="en-US" sz="1200" dirty="0">
                <a:solidFill>
                  <a:schemeClr val="tx1"/>
                </a:solidFill>
              </a:rPr>
              <a:t>A fraud case that continues into the test year is removed from training so the model cannot "remember" the firm.</a:t>
            </a:r>
            <a:endParaRPr lang="en-US" sz="1200" dirty="0"/>
          </a:p>
        </p:txBody>
      </p:sp>
      <p:sp>
        <p:nvSpPr>
          <p:cNvPr id="15" name="step3"/>
          <p:cNvSpPr/>
          <p:nvPr/>
        </p:nvSpPr>
        <p:spPr>
          <a:xfrm>
            <a:off x="457200" y="3310128"/>
            <a:ext cx="457200" cy="457200"/>
          </a:xfrm>
          <a:prstGeom prst="ellipse">
            <a:avLst/>
          </a:prstGeom>
          <a:solidFill>
            <a:srgbClr val="0B3C5D"/>
          </a:solidFill>
          <a:ln w="12700">
            <a:solidFill>
              <a:srgbClr val="0B3C5D"/>
            </a:solidFill>
            <a:prstDash val="solid"/>
          </a:ln>
        </p:spPr>
      </p:sp>
      <p:sp>
        <p:nvSpPr>
          <p:cNvPr id="16" name="Text 14"/>
          <p:cNvSpPr txBox="1"/>
          <p:nvPr/>
        </p:nvSpPr>
        <p:spPr>
          <a:xfrm>
            <a:off x="457200" y="33101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5"/>
          <p:cNvSpPr txBox="1"/>
          <p:nvPr/>
        </p:nvSpPr>
        <p:spPr>
          <a:xfrm>
            <a:off x="1097280" y="3236976"/>
            <a:ext cx="2103120" cy="603504"/>
          </a:xfrm>
          <a:prstGeom prst="rect">
            <a:avLst/>
          </a:prstGeom>
          <a:noFill/>
          <a:ln/>
        </p:spPr>
        <p:txBody>
          <a:bodyPr wrap="square" lIns="0" tIns="0" rIns="0" bIns="0" rtlCol="0" anchor="ctr"/>
          <a:lstStyle/>
          <a:p>
            <a:pPr indent="0" marL="0">
              <a:buNone/>
            </a:pPr>
            <a:r>
              <a:rPr lang="en-US" sz="1400" b="1" dirty="0">
                <a:solidFill>
                  <a:schemeClr val="tx2"/>
                </a:solidFill>
              </a:rPr>
              <a:t>Tuning</a:t>
            </a:r>
            <a:endParaRPr lang="en-US" sz="1400" dirty="0"/>
          </a:p>
        </p:txBody>
      </p:sp>
      <p:sp>
        <p:nvSpPr>
          <p:cNvPr id="18" name="Text 16"/>
          <p:cNvSpPr txBox="1"/>
          <p:nvPr/>
        </p:nvSpPr>
        <p:spPr>
          <a:xfrm>
            <a:off x="3200400" y="3236976"/>
            <a:ext cx="5486400" cy="603504"/>
          </a:xfrm>
          <a:prstGeom prst="rect">
            <a:avLst/>
          </a:prstGeom>
          <a:noFill/>
          <a:ln/>
        </p:spPr>
        <p:txBody>
          <a:bodyPr wrap="square" lIns="0" tIns="0" rIns="0" bIns="0" rtlCol="0" anchor="ctr"/>
          <a:lstStyle/>
          <a:p>
            <a:pPr indent="0" marL="0">
              <a:buNone/>
            </a:pPr>
            <a:r>
              <a:rPr lang="en-US" sz="1200" dirty="0">
                <a:solidFill>
                  <a:schemeClr val="tx1"/>
                </a:solidFill>
              </a:rPr>
              <a:t>Train 1991-1999, validate on 2001 (gap kept). Grid over number of learners 100 to 3000, chosen by AUC.</a:t>
            </a:r>
            <a:endParaRPr lang="en-US" sz="1200" dirty="0"/>
          </a:p>
        </p:txBody>
      </p:sp>
      <p:sp>
        <p:nvSpPr>
          <p:cNvPr id="19" name="step4"/>
          <p:cNvSpPr/>
          <p:nvPr/>
        </p:nvSpPr>
        <p:spPr>
          <a:xfrm>
            <a:off x="457200" y="4023360"/>
            <a:ext cx="457200" cy="457200"/>
          </a:xfrm>
          <a:prstGeom prst="ellipse">
            <a:avLst/>
          </a:prstGeom>
          <a:solidFill>
            <a:srgbClr val="0B3C5D"/>
          </a:solidFill>
          <a:ln w="12700">
            <a:solidFill>
              <a:srgbClr val="0B3C5D"/>
            </a:solidFill>
            <a:prstDash val="solid"/>
          </a:ln>
        </p:spPr>
      </p:sp>
      <p:sp>
        <p:nvSpPr>
          <p:cNvPr id="20" name="Text 18"/>
          <p:cNvSpPr txBox="1"/>
          <p:nvPr/>
        </p:nvSpPr>
        <p:spPr>
          <a:xfrm>
            <a:off x="45720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1" name="Text 19"/>
          <p:cNvSpPr txBox="1"/>
          <p:nvPr/>
        </p:nvSpPr>
        <p:spPr>
          <a:xfrm>
            <a:off x="1097280" y="3950208"/>
            <a:ext cx="2103120" cy="603504"/>
          </a:xfrm>
          <a:prstGeom prst="rect">
            <a:avLst/>
          </a:prstGeom>
          <a:noFill/>
          <a:ln/>
        </p:spPr>
        <p:txBody>
          <a:bodyPr wrap="square" lIns="0" tIns="0" rIns="0" bIns="0" rtlCol="0" anchor="ctr"/>
          <a:lstStyle/>
          <a:p>
            <a:pPr indent="0" marL="0">
              <a:buNone/>
            </a:pPr>
            <a:r>
              <a:rPr lang="en-US" sz="1400" b="1" dirty="0">
                <a:solidFill>
                  <a:schemeClr val="tx2"/>
                </a:solidFill>
              </a:rPr>
              <a:t>RUSBoost</a:t>
            </a:r>
            <a:endParaRPr lang="en-US" sz="1400" dirty="0"/>
          </a:p>
        </p:txBody>
      </p:sp>
      <p:sp>
        <p:nvSpPr>
          <p:cNvPr id="22" name="Text 20"/>
          <p:cNvSpPr txBox="1"/>
          <p:nvPr/>
        </p:nvSpPr>
        <p:spPr>
          <a:xfrm>
            <a:off x="3200400" y="3950208"/>
            <a:ext cx="5486400" cy="603504"/>
          </a:xfrm>
          <a:prstGeom prst="rect">
            <a:avLst/>
          </a:prstGeom>
          <a:noFill/>
          <a:ln/>
        </p:spPr>
        <p:txBody>
          <a:bodyPr wrap="square" lIns="0" tIns="0" rIns="0" bIns="0" rtlCol="0" anchor="ctr"/>
          <a:lstStyle/>
          <a:p>
            <a:pPr indent="0" marL="0">
              <a:buNone/>
            </a:pPr>
            <a:r>
              <a:rPr lang="en-US" sz="1200" dirty="0">
                <a:solidFill>
                  <a:schemeClr val="tx1"/>
                </a:solidFill>
              </a:rPr>
              <a:t>300 boosted trees, MinLeafSize 5, learning rate 0.1, under-sample non-fraud to 1:1 each round (MATLAB fitensemble).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Literature review: metrics and findings</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937760" cy="914400"/>
        </p:xfrm>
        <a:graphic>
          <a:graphicData uri="http://schemas.openxmlformats.org/drawingml/2006/table">
            <a:tbl>
              <a:tblPr/>
              <a:tblGrid>
                <a:gridCol w="1097280"/>
                <a:gridCol w="2377440"/>
                <a:gridCol w="1463040"/>
              </a:tblGrid>
              <a:tr h="0">
                <a:tc>
                  <a:txBody>
                    <a:bodyPr/>
                    <a:lstStyle/>
                    <a:p>
                      <a:pPr indent="0" marL="0">
                        <a:buNone/>
                      </a:pPr>
                      <a:r>
                        <a:rPr lang="en-US" sz="1050" b="1" dirty="0">
                          <a:solidFill>
                            <a:srgbClr val="FFFFFF"/>
                          </a:solidFill>
                        </a:rPr>
                        <a:t>Metric</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c>
                  <a:txBody>
                    <a:bodyPr/>
                    <a:lstStyle/>
                    <a:p>
                      <a:pPr indent="0" marL="0">
                        <a:buNone/>
                      </a:pPr>
                      <a:r>
                        <a:rPr lang="en-US" sz="1050" b="1" dirty="0">
                          <a:solidFill>
                            <a:srgbClr val="FFFFFF"/>
                          </a:solidFill>
                        </a:rPr>
                        <a:t>What it measures</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c>
                  <a:txBody>
                    <a:bodyPr/>
                    <a:lstStyle/>
                    <a:p>
                      <a:pPr indent="0" marL="0">
                        <a:buNone/>
                      </a:pPr>
                      <a:r>
                        <a:rPr lang="en-US" sz="1050" b="1" dirty="0">
                          <a:solidFill>
                            <a:srgbClr val="FFFFFF"/>
                          </a:solidFill>
                        </a:rPr>
                        <a:t>Why the paper uses it</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r>
              <a:tr h="0">
                <a:tc>
                  <a:txBody>
                    <a:bodyPr/>
                    <a:lstStyle/>
                    <a:p>
                      <a:pPr indent="0" marL="0">
                        <a:buNone/>
                      </a:pPr>
                      <a:r>
                        <a:rPr lang="en-US" sz="1050" dirty="0">
                          <a:solidFill>
                            <a:srgbClr val="1F2933"/>
                          </a:solidFill>
                        </a:rPr>
                        <a:t>AUC</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050" dirty="0">
                          <a:solidFill>
                            <a:srgbClr val="1F2933"/>
                          </a:solidFill>
                        </a:rPr>
                        <a:t>Probability a random fraud ranks above a random non-fraud</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050" dirty="0">
                          <a:solidFill>
                            <a:srgbClr val="1F2933"/>
                          </a:solidFill>
                        </a:rPr>
                        <a:t>Standard, threshold-free</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1050" dirty="0">
                          <a:solidFill>
                            <a:srgbClr val="1F2933"/>
                          </a:solidFill>
                        </a:rPr>
                        <a:t>NDCG@k</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050" dirty="0">
                          <a:solidFill>
                            <a:srgbClr val="1F2933"/>
                          </a:solidFill>
                        </a:rPr>
                        <a:t>Discounted hits in the top k% of the ranking</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050" dirty="0">
                          <a:solidFill>
                            <a:srgbClr val="1F2933"/>
                          </a:solidFill>
                        </a:rPr>
                        <a:t>Investigators only look at the top of the list</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1050" dirty="0">
                          <a:solidFill>
                            <a:srgbClr val="1F2933"/>
                          </a:solidFill>
                        </a:rPr>
                        <a:t>Sensitivity@k</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050" dirty="0">
                          <a:solidFill>
                            <a:srgbClr val="1F2933"/>
                          </a:solidFill>
                        </a:rPr>
                        <a:t>Share of all frauds caught in the top k%</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050" dirty="0">
                          <a:solidFill>
                            <a:srgbClr val="1F2933"/>
                          </a:solidFill>
                        </a:rPr>
                        <a:t>Recall at a budget</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1050" dirty="0">
                          <a:solidFill>
                            <a:srgbClr val="1F2933"/>
                          </a:solidFill>
                        </a:rPr>
                        <a:t>Precision@k</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050" dirty="0">
                          <a:solidFill>
                            <a:srgbClr val="1F2933"/>
                          </a:solidFill>
                        </a:rPr>
                        <a:t>Share of the top k% that are fraud</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050" dirty="0">
                          <a:solidFill>
                            <a:srgbClr val="1F2933"/>
                          </a:solidFill>
                        </a:rPr>
                        <a:t>Hit rate per investigation</a:t>
                      </a:r>
                      <a:endParaRPr lang="en-US" sz="10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bl>
          </a:graphicData>
        </a:graphic>
      </p:graphicFrame>
      <p:sp>
        <p:nvSpPr>
          <p:cNvPr id="4" name="Reported findings (approx., Table 3)"/>
          <p:cNvSpPr/>
          <p:nvPr/>
        </p:nvSpPr>
        <p:spPr>
          <a:xfrm>
            <a:off x="5577840" y="1097280"/>
            <a:ext cx="3108960" cy="3566160"/>
          </a:xfrm>
          <a:prstGeom prst="roundRect">
            <a:avLst>
              <a:gd name="adj" fmla="val 2353"/>
            </a:avLst>
          </a:prstGeom>
          <a:solidFill>
            <a:srgbClr val="EEF2F7"/>
          </a:solidFill>
          <a:ln w="12700">
            <a:solidFill>
              <a:srgbClr val="EEF2F7"/>
            </a:solidFill>
            <a:prstDash val="solid"/>
          </a:ln>
        </p:spPr>
      </p:sp>
      <p:sp>
        <p:nvSpPr>
          <p:cNvPr id="5" name="Text 2"/>
          <p:cNvSpPr txBox="1"/>
          <p:nvPr/>
        </p:nvSpPr>
        <p:spPr>
          <a:xfrm>
            <a:off x="5715000" y="1188720"/>
            <a:ext cx="2834640" cy="320040"/>
          </a:xfrm>
          <a:prstGeom prst="rect">
            <a:avLst/>
          </a:prstGeom>
          <a:noFill/>
          <a:ln/>
        </p:spPr>
        <p:txBody>
          <a:bodyPr wrap="square" lIns="0" tIns="0" rIns="0" bIns="0" rtlCol="0" anchor="ctr"/>
          <a:lstStyle/>
          <a:p>
            <a:pPr indent="0" marL="0">
              <a:buNone/>
            </a:pPr>
            <a:r>
              <a:rPr lang="en-US" sz="1300" b="1" dirty="0">
                <a:solidFill>
                  <a:schemeClr val="tx2"/>
                </a:solidFill>
              </a:rPr>
              <a:t>Reported findings (approx., Table 3)</a:t>
            </a:r>
            <a:endParaRPr lang="en-US" sz="1300" dirty="0"/>
          </a:p>
        </p:txBody>
      </p:sp>
      <p:sp>
        <p:nvSpPr>
          <p:cNvPr id="6" name="Text 3"/>
          <p:cNvSpPr txBox="1"/>
          <p:nvPr/>
        </p:nvSpPr>
        <p:spPr>
          <a:xfrm>
            <a:off x="5715000" y="1508760"/>
            <a:ext cx="2834640" cy="3063240"/>
          </a:xfrm>
          <a:prstGeom prst="rect">
            <a:avLst/>
          </a:prstGeom>
          <a:noFill/>
          <a:ln/>
        </p:spPr>
        <p:txBody>
          <a:bodyPr wrap="square" lIns="0" tIns="0" rIns="0" bIns="0" rtlCol="0" anchor="t"/>
          <a:lstStyle/>
          <a:p>
            <a:pPr indent="0" marL="0">
              <a:buNone/>
            </a:pPr>
            <a:r>
              <a:rPr lang="en-US" sz="1150" dirty="0">
                <a:solidFill>
                  <a:schemeClr val="tx1"/>
                </a:solidFill>
              </a:rPr>
              <a:t>RUSBoost on 28 raw items: AUC about 0.72 over 2003-2008, ahead of the logistic F-score (about 0.69) and SVM-FK (about 0.63).</a:t>
            </a:r>
            <a:endParaRPr lang="en-US" sz="1150" dirty="0"/>
          </a:p>
          <a:p>
            <a:pPr indent="0" marL="0">
              <a:buNone/>
            </a:pPr>
            <a:endParaRPr lang="en-US" sz="1150" dirty="0"/>
          </a:p>
          <a:p>
            <a:pPr indent="0" marL="0">
              <a:buNone/>
            </a:pPr>
            <a:r>
              <a:rPr lang="en-US" sz="1150" dirty="0">
                <a:solidFill>
                  <a:schemeClr val="tx1"/>
                </a:solidFill>
              </a:rPr>
              <a:t>The raw-item model also wins on NDCG@1%, i.e. at the very top of the list.</a:t>
            </a:r>
            <a:endParaRPr lang="en-US" sz="1150" dirty="0"/>
          </a:p>
          <a:p>
            <a:pPr indent="0" marL="0">
              <a:buNone/>
            </a:pPr>
            <a:endParaRPr lang="en-US" sz="1150" dirty="0"/>
          </a:p>
          <a:p>
            <a:pPr indent="0" marL="0">
              <a:buNone/>
            </a:pPr>
            <a:r>
              <a:rPr lang="en-US" sz="1150" dirty="0">
                <a:solidFill>
                  <a:schemeClr val="tx1"/>
                </a:solidFill>
              </a:rPr>
              <a:t>Results are robust to a 1-year gap and to alternative test windows.</a:t>
            </a:r>
            <a:endParaRPr lang="en-US" sz="1150" dirty="0"/>
          </a:p>
          <a:p>
            <a:pPr indent="0" marL="0">
              <a:buNone/>
            </a:pPr>
            <a:endParaRPr lang="en-US" sz="1150" dirty="0"/>
          </a:p>
          <a:p>
            <a:pPr indent="0" marL="0">
              <a:buNone/>
            </a:pPr>
            <a:r>
              <a:rPr lang="en-US" sz="1150" dirty="0">
                <a:solidFill>
                  <a:schemeClr val="tx1"/>
                </a:solidFill>
              </a:rPr>
              <a:t>Our reproduction of the baseline: AUC 0.705 (paper tree settings) to 0.724 (deeper trees) over 2003-2014, consistent with the paper.</a:t>
            </a:r>
            <a:endParaRPr lang="en-US" sz="1150" dirty="0"/>
          </a:p>
        </p:txBody>
      </p:sp>
      <p:sp>
        <p:nvSpPr>
          <p:cNvPr id="7" name="Text 4"/>
          <p:cNvSpPr txBox="1"/>
          <p:nvPr/>
        </p:nvSpPr>
        <p:spPr>
          <a:xfrm>
            <a:off x="457200" y="3749040"/>
            <a:ext cx="4937760" cy="914400"/>
          </a:xfrm>
          <a:prstGeom prst="rect">
            <a:avLst/>
          </a:prstGeom>
          <a:noFill/>
          <a:ln/>
        </p:spPr>
        <p:txBody>
          <a:bodyPr wrap="square" lIns="0" tIns="0" rIns="0" bIns="0" rtlCol="0" anchor="t"/>
          <a:lstStyle/>
          <a:p>
            <a:pPr indent="0" marL="0">
              <a:buNone/>
            </a:pPr>
            <a:r>
              <a:rPr lang="en-US" sz="1150" i="1" dirty="0">
                <a:solidFill>
                  <a:srgbClr val="6B7280"/>
                </a:solidFill>
              </a:rPr>
              <a:t>Limitations the authors acknowledge: only SEC-caught fraud is labelled (undetected fraud = 0); labels keep arriving for years; the model ranks, it does not decide.</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lIns="0" tIns="0" rIns="0" bIns="0" rtlCol="0" anchor="ctr"/>
          <a:lstStyle/>
          <a:p>
            <a:pPr indent="0" marL="0">
              <a:buNone/>
            </a:pPr>
            <a:r>
              <a:rPr lang="en-US" sz="3600" b="1" dirty="0">
                <a:solidFill>
                  <a:schemeClr val="bg1"/>
                </a:solidFill>
              </a:rPr>
              <a:t>2 · Research gaps</a:t>
            </a:r>
            <a:endParaRPr lang="en-US" sz="3600" dirty="0"/>
          </a:p>
        </p:txBody>
      </p:sp>
      <p:sp>
        <p:nvSpPr>
          <p:cNvPr id="3" name="Text 0"/>
          <p:cNvSpPr/>
          <p:nvPr>
            <p:ph idx="101" type="body" hasCustomPrompt="1"/>
          </p:nvPr>
        </p:nvSpPr>
        <p:spPr>
          <a:xfrm>
            <a:off x="548640" y="2971800"/>
            <a:ext cx="8046720" cy="822960"/>
          </a:xfrm>
          <a:prstGeom prst="rect">
            <a:avLst/>
          </a:prstGeom>
          <a:noFill/>
          <a:ln/>
        </p:spPr>
        <p:txBody>
          <a:bodyPr wrap="square" lIns="0" tIns="0" rIns="0" bIns="0" rtlCol="0" anchor="t"/>
          <a:lstStyle/>
          <a:p>
            <a:pPr indent="0" marL="0">
              <a:buNone/>
            </a:pPr>
            <a:r>
              <a:rPr lang="en-US" sz="1600" dirty="0">
                <a:solidFill>
                  <a:srgbClr val="CADCFC"/>
                </a:solidFill>
              </a:rPr>
              <a:t>What the paper leaves open, found by re-implementing it line by line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Five gaps we set out to close</a:t>
            </a:r>
            <a:endParaRPr lang="en-US" sz="2600" dirty="0"/>
          </a:p>
        </p:txBody>
      </p:sp>
      <p:sp>
        <p:nvSpPr>
          <p:cNvPr id="3" name="1. Scale bias"/>
          <p:cNvSpPr/>
          <p:nvPr/>
        </p:nvSpPr>
        <p:spPr>
          <a:xfrm>
            <a:off x="457200" y="1097280"/>
            <a:ext cx="2651760" cy="1691640"/>
          </a:xfrm>
          <a:prstGeom prst="roundRect">
            <a:avLst>
              <a:gd name="adj" fmla="val 4324"/>
            </a:avLst>
          </a:prstGeom>
          <a:solidFill>
            <a:srgbClr val="EEF2F7"/>
          </a:solidFill>
          <a:ln w="12700">
            <a:solidFill>
              <a:srgbClr val="EEF2F7"/>
            </a:solidFill>
            <a:prstDash val="solid"/>
          </a:ln>
        </p:spPr>
      </p:sp>
      <p:sp>
        <p:nvSpPr>
          <p:cNvPr id="4" name="Text 2"/>
          <p:cNvSpPr txBox="1"/>
          <p:nvPr/>
        </p:nvSpPr>
        <p:spPr>
          <a:xfrm>
            <a:off x="594360" y="11887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1. Scale bias</a:t>
            </a:r>
            <a:endParaRPr lang="en-US" sz="1300" dirty="0"/>
          </a:p>
        </p:txBody>
      </p:sp>
      <p:sp>
        <p:nvSpPr>
          <p:cNvPr id="5" name="Text 3"/>
          <p:cNvSpPr txBox="1"/>
          <p:nvPr/>
        </p:nvSpPr>
        <p:spPr>
          <a:xfrm>
            <a:off x="594360" y="1508760"/>
            <a:ext cx="2377440" cy="1188720"/>
          </a:xfrm>
          <a:prstGeom prst="rect">
            <a:avLst/>
          </a:prstGeom>
          <a:noFill/>
          <a:ln/>
        </p:spPr>
        <p:txBody>
          <a:bodyPr wrap="square" lIns="0" tIns="0" rIns="0" bIns="0" rtlCol="0" anchor="t"/>
          <a:lstStyle/>
          <a:p>
            <a:pPr indent="0" marL="0">
              <a:buNone/>
            </a:pPr>
            <a:r>
              <a:rPr lang="en-US" sz="1150" dirty="0">
                <a:solidFill>
                  <a:schemeClr val="tx1"/>
                </a:solidFill>
              </a:rPr>
              <a:t>Raw dollar items (assets, shares, share price) make the model partly learn "big firms that issue equity". Risk is not scale-free.</a:t>
            </a:r>
            <a:endParaRPr lang="en-US" sz="1150" dirty="0"/>
          </a:p>
        </p:txBody>
      </p:sp>
      <p:sp>
        <p:nvSpPr>
          <p:cNvPr id="6" name="2. No explanation"/>
          <p:cNvSpPr/>
          <p:nvPr/>
        </p:nvSpPr>
        <p:spPr>
          <a:xfrm>
            <a:off x="3246120" y="1097280"/>
            <a:ext cx="2651760" cy="1691640"/>
          </a:xfrm>
          <a:prstGeom prst="roundRect">
            <a:avLst>
              <a:gd name="adj" fmla="val 4324"/>
            </a:avLst>
          </a:prstGeom>
          <a:solidFill>
            <a:srgbClr val="FFF7ED"/>
          </a:solidFill>
          <a:ln w="12700">
            <a:solidFill>
              <a:srgbClr val="FFF7ED"/>
            </a:solidFill>
            <a:prstDash val="solid"/>
          </a:ln>
        </p:spPr>
      </p:sp>
      <p:sp>
        <p:nvSpPr>
          <p:cNvPr id="7" name="Text 5"/>
          <p:cNvSpPr txBox="1"/>
          <p:nvPr/>
        </p:nvSpPr>
        <p:spPr>
          <a:xfrm>
            <a:off x="3383280" y="11887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2. No explanation</a:t>
            </a:r>
            <a:endParaRPr lang="en-US" sz="1300" dirty="0"/>
          </a:p>
        </p:txBody>
      </p:sp>
      <p:sp>
        <p:nvSpPr>
          <p:cNvPr id="8" name="Text 6"/>
          <p:cNvSpPr txBox="1"/>
          <p:nvPr/>
        </p:nvSpPr>
        <p:spPr>
          <a:xfrm>
            <a:off x="3383280" y="1508760"/>
            <a:ext cx="2377440" cy="1188720"/>
          </a:xfrm>
          <a:prstGeom prst="rect">
            <a:avLst/>
          </a:prstGeom>
          <a:noFill/>
          <a:ln/>
        </p:spPr>
        <p:txBody>
          <a:bodyPr wrap="square" lIns="0" tIns="0" rIns="0" bIns="0" rtlCol="0" anchor="t"/>
          <a:lstStyle/>
          <a:p>
            <a:pPr indent="0" marL="0">
              <a:buNone/>
            </a:pPr>
            <a:r>
              <a:rPr lang="en-US" sz="1150" dirty="0">
                <a:solidFill>
                  <a:schemeClr val="tx1"/>
                </a:solidFill>
              </a:rPr>
              <a:t>RUSBoost is a black box of 300 trees. An auditor cannot see WHY a firm is flagged.</a:t>
            </a:r>
            <a:endParaRPr lang="en-US" sz="1150" dirty="0"/>
          </a:p>
        </p:txBody>
      </p:sp>
      <p:sp>
        <p:nvSpPr>
          <p:cNvPr id="9" name="3. No decision step"/>
          <p:cNvSpPr/>
          <p:nvPr/>
        </p:nvSpPr>
        <p:spPr>
          <a:xfrm>
            <a:off x="6035040" y="1097280"/>
            <a:ext cx="2651760" cy="1691640"/>
          </a:xfrm>
          <a:prstGeom prst="roundRect">
            <a:avLst>
              <a:gd name="adj" fmla="val 4324"/>
            </a:avLst>
          </a:prstGeom>
          <a:solidFill>
            <a:srgbClr val="EEF2F7"/>
          </a:solidFill>
          <a:ln w="12700">
            <a:solidFill>
              <a:srgbClr val="EEF2F7"/>
            </a:solidFill>
            <a:prstDash val="solid"/>
          </a:ln>
        </p:spPr>
      </p:sp>
      <p:sp>
        <p:nvSpPr>
          <p:cNvPr id="10" name="Text 8"/>
          <p:cNvSpPr txBox="1"/>
          <p:nvPr/>
        </p:nvSpPr>
        <p:spPr>
          <a:xfrm>
            <a:off x="6172200" y="11887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3. No decision step</a:t>
            </a:r>
            <a:endParaRPr lang="en-US" sz="1300" dirty="0"/>
          </a:p>
        </p:txBody>
      </p:sp>
      <p:sp>
        <p:nvSpPr>
          <p:cNvPr id="11" name="Text 9"/>
          <p:cNvSpPr txBox="1"/>
          <p:nvPr/>
        </p:nvSpPr>
        <p:spPr>
          <a:xfrm>
            <a:off x="6172200" y="1508760"/>
            <a:ext cx="2377440" cy="1188720"/>
          </a:xfrm>
          <a:prstGeom prst="rect">
            <a:avLst/>
          </a:prstGeom>
          <a:noFill/>
          <a:ln/>
        </p:spPr>
        <p:txBody>
          <a:bodyPr wrap="square" lIns="0" tIns="0" rIns="0" bIns="0" rtlCol="0" anchor="t"/>
          <a:lstStyle/>
          <a:p>
            <a:pPr indent="0" marL="0">
              <a:buNone/>
            </a:pPr>
            <a:r>
              <a:rPr lang="en-US" sz="1150" dirty="0">
                <a:solidFill>
                  <a:schemeClr val="tx1"/>
                </a:solidFill>
              </a:rPr>
              <a:t>The paper ranks firms. There is no cutoff, no confusion matrix, no calibrated probability an investigator can act on.</a:t>
            </a:r>
            <a:endParaRPr lang="en-US" sz="1150" dirty="0"/>
          </a:p>
        </p:txBody>
      </p:sp>
      <p:sp>
        <p:nvSpPr>
          <p:cNvPr id="12" name="4. Thin significance"/>
          <p:cNvSpPr/>
          <p:nvPr/>
        </p:nvSpPr>
        <p:spPr>
          <a:xfrm>
            <a:off x="457200" y="2926080"/>
            <a:ext cx="2651760" cy="1691640"/>
          </a:xfrm>
          <a:prstGeom prst="roundRect">
            <a:avLst>
              <a:gd name="adj" fmla="val 4324"/>
            </a:avLst>
          </a:prstGeom>
          <a:solidFill>
            <a:srgbClr val="FFF7ED"/>
          </a:solidFill>
          <a:ln w="12700">
            <a:solidFill>
              <a:srgbClr val="FFF7ED"/>
            </a:solidFill>
            <a:prstDash val="solid"/>
          </a:ln>
        </p:spPr>
      </p:sp>
      <p:sp>
        <p:nvSpPr>
          <p:cNvPr id="13" name="Text 11"/>
          <p:cNvSpPr txBox="1"/>
          <p:nvPr/>
        </p:nvSpPr>
        <p:spPr>
          <a:xfrm>
            <a:off x="594360" y="30175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4. Thin significance</a:t>
            </a:r>
            <a:endParaRPr lang="en-US" sz="1300" dirty="0"/>
          </a:p>
        </p:txBody>
      </p:sp>
      <p:sp>
        <p:nvSpPr>
          <p:cNvPr id="14" name="Text 12"/>
          <p:cNvSpPr txBox="1"/>
          <p:nvPr/>
        </p:nvSpPr>
        <p:spPr>
          <a:xfrm>
            <a:off x="594360" y="3337560"/>
            <a:ext cx="2377440" cy="1188720"/>
          </a:xfrm>
          <a:prstGeom prst="rect">
            <a:avLst/>
          </a:prstGeom>
          <a:noFill/>
          <a:ln/>
        </p:spPr>
        <p:txBody>
          <a:bodyPr wrap="square" lIns="0" tIns="0" rIns="0" bIns="0" rtlCol="0" anchor="t"/>
          <a:lstStyle/>
          <a:p>
            <a:pPr indent="0" marL="0">
              <a:buNone/>
            </a:pPr>
            <a:r>
              <a:rPr lang="en-US" sz="1150" dirty="0">
                <a:solidFill>
                  <a:schemeClr val="tx1"/>
                </a:solidFill>
              </a:rPr>
              <a:t>Model differences are reported without confidence intervals; fraud cases span years, so observations are not independent.</a:t>
            </a:r>
            <a:endParaRPr lang="en-US" sz="1150" dirty="0"/>
          </a:p>
        </p:txBody>
      </p:sp>
      <p:sp>
        <p:nvSpPr>
          <p:cNvPr id="15" name="5. Not deployable"/>
          <p:cNvSpPr/>
          <p:nvPr/>
        </p:nvSpPr>
        <p:spPr>
          <a:xfrm>
            <a:off x="3246120" y="2926080"/>
            <a:ext cx="2651760" cy="1691640"/>
          </a:xfrm>
          <a:prstGeom prst="roundRect">
            <a:avLst>
              <a:gd name="adj" fmla="val 4324"/>
            </a:avLst>
          </a:prstGeom>
          <a:solidFill>
            <a:srgbClr val="EEF2F7"/>
          </a:solidFill>
          <a:ln w="12700">
            <a:solidFill>
              <a:srgbClr val="EEF2F7"/>
            </a:solidFill>
            <a:prstDash val="solid"/>
          </a:ln>
        </p:spPr>
      </p:sp>
      <p:sp>
        <p:nvSpPr>
          <p:cNvPr id="16" name="Text 14"/>
          <p:cNvSpPr txBox="1"/>
          <p:nvPr/>
        </p:nvSpPr>
        <p:spPr>
          <a:xfrm>
            <a:off x="3383280" y="30175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5. Not deployable</a:t>
            </a:r>
            <a:endParaRPr lang="en-US" sz="1300" dirty="0"/>
          </a:p>
        </p:txBody>
      </p:sp>
      <p:sp>
        <p:nvSpPr>
          <p:cNvPr id="17" name="Text 15"/>
          <p:cNvSpPr txBox="1"/>
          <p:nvPr/>
        </p:nvSpPr>
        <p:spPr>
          <a:xfrm>
            <a:off x="3383280" y="3337560"/>
            <a:ext cx="2377440" cy="1188720"/>
          </a:xfrm>
          <a:prstGeom prst="rect">
            <a:avLst/>
          </a:prstGeom>
          <a:noFill/>
          <a:ln/>
        </p:spPr>
        <p:txBody>
          <a:bodyPr wrap="square" lIns="0" tIns="0" rIns="0" bIns="0" rtlCol="0" anchor="t"/>
          <a:lstStyle/>
          <a:p>
            <a:pPr indent="0" marL="0">
              <a:buNone/>
            </a:pPr>
            <a:r>
              <a:rPr lang="en-US" sz="1150" dirty="0">
                <a:solidFill>
                  <a:schemeClr val="tx1"/>
                </a:solidFill>
              </a:rPr>
              <a:t>No scoring path for new firms; later training years have incomplete labels (fraud is found years later).</a:t>
            </a:r>
            <a:endParaRPr lang="en-US" sz="1150" dirty="0"/>
          </a:p>
        </p:txBody>
      </p:sp>
      <p:sp>
        <p:nvSpPr>
          <p:cNvPr id="18" name="Text 16"/>
          <p:cNvSpPr txBox="1"/>
          <p:nvPr/>
        </p:nvSpPr>
        <p:spPr>
          <a:xfrm>
            <a:off x="6035040" y="2926080"/>
            <a:ext cx="2651760" cy="1691640"/>
          </a:xfrm>
          <a:prstGeom prst="rect">
            <a:avLst/>
          </a:prstGeom>
          <a:noFill/>
          <a:ln/>
        </p:spPr>
        <p:txBody>
          <a:bodyPr wrap="square" lIns="0" tIns="0" rIns="0" bIns="0" rtlCol="0" anchor="ctr"/>
          <a:lstStyle/>
          <a:p>
            <a:pPr indent="0" marL="0">
              <a:buNone/>
            </a:pPr>
            <a:r>
              <a:rPr lang="en-US" sz="1300" i="1" dirty="0">
                <a:solidFill>
                  <a:schemeClr val="tx2"/>
                </a:solidFill>
              </a:rPr>
              <a:t>Each gap maps to one implemented improvement on the next slides.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lIns="0" tIns="0" rIns="0" bIns="0" rtlCol="0" anchor="ctr"/>
          <a:lstStyle/>
          <a:p>
            <a:pPr indent="0" marL="0">
              <a:buNone/>
            </a:pPr>
            <a:r>
              <a:rPr lang="en-US" sz="3600" b="1" dirty="0">
                <a:solidFill>
                  <a:schemeClr val="bg1"/>
                </a:solidFill>
              </a:rPr>
              <a:t>3 · What we implemented</a:t>
            </a:r>
            <a:endParaRPr lang="en-US" sz="3600" dirty="0"/>
          </a:p>
        </p:txBody>
      </p:sp>
      <p:sp>
        <p:nvSpPr>
          <p:cNvPr id="3" name="Text 0"/>
          <p:cNvSpPr/>
          <p:nvPr>
            <p:ph idx="101" type="body" hasCustomPrompt="1"/>
          </p:nvPr>
        </p:nvSpPr>
        <p:spPr>
          <a:xfrm>
            <a:off x="548640" y="2971800"/>
            <a:ext cx="8046720" cy="822960"/>
          </a:xfrm>
          <a:prstGeom prst="rect">
            <a:avLst/>
          </a:prstGeom>
          <a:noFill/>
          <a:ln/>
        </p:spPr>
        <p:txBody>
          <a:bodyPr wrap="square" lIns="0" tIns="0" rIns="0" bIns="0" rtlCol="0" anchor="t"/>
          <a:lstStyle/>
          <a:p>
            <a:pPr indent="0" marL="0">
              <a:buNone/>
            </a:pPr>
            <a:r>
              <a:rPr lang="en-US" sz="1600" dirty="0">
                <a:solidFill>
                  <a:srgbClr val="CADCFC"/>
                </a:solidFill>
              </a:rPr>
              <a:t>Same protocol as the paper, so every number is comparable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Pipeline overview</a:t>
            </a:r>
            <a:endParaRPr lang="en-US" sz="2600" dirty="0"/>
          </a:p>
        </p:txBody>
      </p:sp>
      <p:sp>
        <p:nvSpPr>
          <p:cNvPr id="3" name="box0"/>
          <p:cNvSpPr/>
          <p:nvPr/>
        </p:nvSpPr>
        <p:spPr>
          <a:xfrm>
            <a:off x="457200" y="1234440"/>
            <a:ext cx="1280160" cy="1371600"/>
          </a:xfrm>
          <a:prstGeom prst="roundRect">
            <a:avLst>
              <a:gd name="adj" fmla="val 5714"/>
            </a:avLst>
          </a:prstGeom>
          <a:solidFill>
            <a:srgbClr val="0B3C5D"/>
          </a:solidFill>
          <a:ln w="12700">
            <a:solidFill>
              <a:srgbClr val="0B3C5D"/>
            </a:solidFill>
            <a:prstDash val="solid"/>
          </a:ln>
        </p:spPr>
      </p:sp>
      <p:sp>
        <p:nvSpPr>
          <p:cNvPr id="4" name="Text 2"/>
          <p:cNvSpPr txBox="1"/>
          <p:nvPr/>
        </p:nvSpPr>
        <p:spPr>
          <a:xfrm>
            <a:off x="457200" y="1280160"/>
            <a:ext cx="1280160" cy="365760"/>
          </a:xfrm>
          <a:prstGeom prst="rect">
            <a:avLst/>
          </a:prstGeom>
          <a:noFill/>
          <a:ln/>
        </p:spPr>
        <p:txBody>
          <a:bodyPr wrap="square" lIns="0" tIns="0" rIns="0" bIns="0" rtlCol="0" anchor="ctr"/>
          <a:lstStyle/>
          <a:p>
            <a:pPr algn="ctr" indent="0" marL="0">
              <a:buNone/>
            </a:pPr>
            <a:r>
              <a:rPr lang="en-US" sz="1300" b="1" dirty="0">
                <a:solidFill>
                  <a:srgbClr val="FFFFFF"/>
                </a:solidFill>
              </a:rPr>
              <a:t>Data</a:t>
            </a:r>
            <a:endParaRPr lang="en-US" sz="1300" dirty="0"/>
          </a:p>
        </p:txBody>
      </p:sp>
      <p:sp>
        <p:nvSpPr>
          <p:cNvPr id="5" name="Text 3"/>
          <p:cNvSpPr txBox="1"/>
          <p:nvPr/>
        </p:nvSpPr>
        <p:spPr>
          <a:xfrm>
            <a:off x="502920" y="1645920"/>
            <a:ext cx="1188720" cy="914400"/>
          </a:xfrm>
          <a:prstGeom prst="rect">
            <a:avLst/>
          </a:prstGeom>
          <a:noFill/>
          <a:ln/>
        </p:spPr>
        <p:txBody>
          <a:bodyPr wrap="square" lIns="0" tIns="0" rIns="0" bIns="0" rtlCol="0" anchor="t"/>
          <a:lstStyle/>
          <a:p>
            <a:pPr algn="ctr" indent="0" marL="0">
              <a:buNone/>
            </a:pPr>
            <a:r>
              <a:rPr lang="en-US" sz="1000" dirty="0">
                <a:solidFill>
                  <a:srgbClr val="FFFFFF"/>
                </a:solidFill>
              </a:rPr>
              <a:t>146k firm-years</a:t>
            </a:r>
            <a:endParaRPr lang="en-US" sz="1000" dirty="0"/>
          </a:p>
          <a:p>
            <a:pPr algn="ctr" indent="0" marL="0">
              <a:buNone/>
            </a:pPr>
            <a:r>
              <a:rPr lang="en-US" sz="1000" dirty="0">
                <a:solidFill>
                  <a:srgbClr val="FFFFFF"/>
                </a:solidFill>
              </a:rPr>
              <a:t>1991-2014</a:t>
            </a:r>
            <a:endParaRPr lang="en-US" sz="1000" dirty="0"/>
          </a:p>
        </p:txBody>
      </p:sp>
      <p:sp>
        <p:nvSpPr>
          <p:cNvPr id="6" name="arr0"/>
          <p:cNvSpPr/>
          <p:nvPr/>
        </p:nvSpPr>
        <p:spPr>
          <a:xfrm>
            <a:off x="1737360" y="1783080"/>
            <a:ext cx="137160" cy="274320"/>
          </a:xfrm>
          <a:prstGeom prst="rightArrow">
            <a:avLst/>
          </a:prstGeom>
          <a:solidFill>
            <a:srgbClr val="6B7280"/>
          </a:solidFill>
          <a:ln w="12700">
            <a:solidFill>
              <a:srgbClr val="6B7280"/>
            </a:solidFill>
            <a:prstDash val="solid"/>
          </a:ln>
        </p:spPr>
      </p:sp>
      <p:sp>
        <p:nvSpPr>
          <p:cNvPr id="7" name="box1"/>
          <p:cNvSpPr/>
          <p:nvPr/>
        </p:nvSpPr>
        <p:spPr>
          <a:xfrm>
            <a:off x="1874520" y="1234440"/>
            <a:ext cx="1280160" cy="1371600"/>
          </a:xfrm>
          <a:prstGeom prst="roundRect">
            <a:avLst>
              <a:gd name="adj" fmla="val 5714"/>
            </a:avLst>
          </a:prstGeom>
          <a:solidFill>
            <a:srgbClr val="0B3C5D"/>
          </a:solidFill>
          <a:ln w="12700">
            <a:solidFill>
              <a:srgbClr val="0B3C5D"/>
            </a:solidFill>
            <a:prstDash val="solid"/>
          </a:ln>
        </p:spPr>
      </p:sp>
      <p:sp>
        <p:nvSpPr>
          <p:cNvPr id="8" name="Text 6"/>
          <p:cNvSpPr txBox="1"/>
          <p:nvPr/>
        </p:nvSpPr>
        <p:spPr>
          <a:xfrm>
            <a:off x="1874520" y="1280160"/>
            <a:ext cx="1280160" cy="365760"/>
          </a:xfrm>
          <a:prstGeom prst="rect">
            <a:avLst/>
          </a:prstGeom>
          <a:noFill/>
          <a:ln/>
        </p:spPr>
        <p:txBody>
          <a:bodyPr wrap="square" lIns="0" tIns="0" rIns="0" bIns="0" rtlCol="0" anchor="ctr"/>
          <a:lstStyle/>
          <a:p>
            <a:pPr algn="ctr" indent="0" marL="0">
              <a:buNone/>
            </a:pPr>
            <a:r>
              <a:rPr lang="en-US" sz="1300" b="1" dirty="0">
                <a:solidFill>
                  <a:srgbClr val="FFFFFF"/>
                </a:solidFill>
              </a:rPr>
              <a:t>Features</a:t>
            </a:r>
            <a:endParaRPr lang="en-US" sz="1300" dirty="0"/>
          </a:p>
        </p:txBody>
      </p:sp>
      <p:sp>
        <p:nvSpPr>
          <p:cNvPr id="9" name="Text 7"/>
          <p:cNvSpPr txBox="1"/>
          <p:nvPr/>
        </p:nvSpPr>
        <p:spPr>
          <a:xfrm>
            <a:off x="1920240" y="1645920"/>
            <a:ext cx="1188720" cy="914400"/>
          </a:xfrm>
          <a:prstGeom prst="rect">
            <a:avLst/>
          </a:prstGeom>
          <a:noFill/>
          <a:ln/>
        </p:spPr>
        <p:txBody>
          <a:bodyPr wrap="square" lIns="0" tIns="0" rIns="0" bIns="0" rtlCol="0" anchor="t"/>
          <a:lstStyle/>
          <a:p>
            <a:pPr algn="ctr" indent="0" marL="0">
              <a:buNone/>
            </a:pPr>
            <a:r>
              <a:rPr lang="en-US" sz="1000" dirty="0">
                <a:solidFill>
                  <a:srgbClr val="FFFFFF"/>
                </a:solidFill>
              </a:rPr>
              <a:t>133 scale-free</a:t>
            </a:r>
            <a:endParaRPr lang="en-US" sz="1000" dirty="0"/>
          </a:p>
          <a:p>
            <a:pPr algn="ctr" indent="0" marL="0">
              <a:buNone/>
            </a:pPr>
            <a:r>
              <a:rPr lang="en-US" sz="1000" dirty="0">
                <a:solidFill>
                  <a:srgbClr val="FFFFFF"/>
                </a:solidFill>
              </a:rPr>
              <a:t>(ratios, Beneish,</a:t>
            </a:r>
            <a:endParaRPr lang="en-US" sz="1000" dirty="0"/>
          </a:p>
          <a:p>
            <a:pPr algn="ctr" indent="0" marL="0">
              <a:buNone/>
            </a:pPr>
            <a:r>
              <a:rPr lang="en-US" sz="1000" dirty="0">
                <a:solidFill>
                  <a:srgbClr val="FFFFFF"/>
                </a:solidFill>
              </a:rPr>
              <a:t>Altman, ranks)</a:t>
            </a:r>
            <a:endParaRPr lang="en-US" sz="1000" dirty="0"/>
          </a:p>
        </p:txBody>
      </p:sp>
      <p:sp>
        <p:nvSpPr>
          <p:cNvPr id="10" name="arr1"/>
          <p:cNvSpPr/>
          <p:nvPr/>
        </p:nvSpPr>
        <p:spPr>
          <a:xfrm>
            <a:off x="3154680" y="1783080"/>
            <a:ext cx="137160" cy="274320"/>
          </a:xfrm>
          <a:prstGeom prst="rightArrow">
            <a:avLst/>
          </a:prstGeom>
          <a:solidFill>
            <a:srgbClr val="6B7280"/>
          </a:solidFill>
          <a:ln w="12700">
            <a:solidFill>
              <a:srgbClr val="6B7280"/>
            </a:solidFill>
            <a:prstDash val="solid"/>
          </a:ln>
        </p:spPr>
      </p:sp>
      <p:sp>
        <p:nvSpPr>
          <p:cNvPr id="11" name="box2"/>
          <p:cNvSpPr/>
          <p:nvPr/>
        </p:nvSpPr>
        <p:spPr>
          <a:xfrm>
            <a:off x="3291840" y="1234440"/>
            <a:ext cx="1280160" cy="1371600"/>
          </a:xfrm>
          <a:prstGeom prst="roundRect">
            <a:avLst>
              <a:gd name="adj" fmla="val 5714"/>
            </a:avLst>
          </a:prstGeom>
          <a:solidFill>
            <a:srgbClr val="0B3C5D"/>
          </a:solidFill>
          <a:ln w="12700">
            <a:solidFill>
              <a:srgbClr val="0B3C5D"/>
            </a:solidFill>
            <a:prstDash val="solid"/>
          </a:ln>
        </p:spPr>
      </p:sp>
      <p:sp>
        <p:nvSpPr>
          <p:cNvPr id="12" name="Text 10"/>
          <p:cNvSpPr txBox="1"/>
          <p:nvPr/>
        </p:nvSpPr>
        <p:spPr>
          <a:xfrm>
            <a:off x="3291840" y="1280160"/>
            <a:ext cx="1280160" cy="365760"/>
          </a:xfrm>
          <a:prstGeom prst="rect">
            <a:avLst/>
          </a:prstGeom>
          <a:noFill/>
          <a:ln/>
        </p:spPr>
        <p:txBody>
          <a:bodyPr wrap="square" lIns="0" tIns="0" rIns="0" bIns="0" rtlCol="0" anchor="ctr"/>
          <a:lstStyle/>
          <a:p>
            <a:pPr algn="ctr" indent="0" marL="0">
              <a:buNone/>
            </a:pPr>
            <a:r>
              <a:rPr lang="en-US" sz="1300" b="1" dirty="0">
                <a:solidFill>
                  <a:srgbClr val="FFFFFF"/>
                </a:solidFill>
              </a:rPr>
              <a:t>Tuning</a:t>
            </a:r>
            <a:endParaRPr lang="en-US" sz="1300" dirty="0"/>
          </a:p>
        </p:txBody>
      </p:sp>
      <p:sp>
        <p:nvSpPr>
          <p:cNvPr id="13" name="Text 11"/>
          <p:cNvSpPr txBox="1"/>
          <p:nvPr/>
        </p:nvSpPr>
        <p:spPr>
          <a:xfrm>
            <a:off x="3337560" y="1645920"/>
            <a:ext cx="1188720" cy="914400"/>
          </a:xfrm>
          <a:prstGeom prst="rect">
            <a:avLst/>
          </a:prstGeom>
          <a:noFill/>
          <a:ln/>
        </p:spPr>
        <p:txBody>
          <a:bodyPr wrap="square" lIns="0" tIns="0" rIns="0" bIns="0" rtlCol="0" anchor="t"/>
          <a:lstStyle/>
          <a:p>
            <a:pPr algn="ctr" indent="0" marL="0">
              <a:buNone/>
            </a:pPr>
            <a:r>
              <a:rPr lang="en-US" sz="1000" dirty="0">
                <a:solidFill>
                  <a:srgbClr val="FFFFFF"/>
                </a:solidFill>
              </a:rPr>
              <a:t>rolling CV on</a:t>
            </a:r>
            <a:endParaRPr lang="en-US" sz="1000" dirty="0"/>
          </a:p>
          <a:p>
            <a:pPr algn="ctr" indent="0" marL="0">
              <a:buNone/>
            </a:pPr>
            <a:r>
              <a:rPr lang="en-US" sz="1000" dirty="0">
                <a:solidFill>
                  <a:srgbClr val="FFFFFF"/>
                </a:solidFill>
              </a:rPr>
              <a:t>pre-2003 data only</a:t>
            </a:r>
            <a:endParaRPr lang="en-US" sz="1000" dirty="0"/>
          </a:p>
        </p:txBody>
      </p:sp>
      <p:sp>
        <p:nvSpPr>
          <p:cNvPr id="14" name="arr2"/>
          <p:cNvSpPr/>
          <p:nvPr/>
        </p:nvSpPr>
        <p:spPr>
          <a:xfrm>
            <a:off x="4572000" y="1783080"/>
            <a:ext cx="137160" cy="274320"/>
          </a:xfrm>
          <a:prstGeom prst="rightArrow">
            <a:avLst/>
          </a:prstGeom>
          <a:solidFill>
            <a:srgbClr val="6B7280"/>
          </a:solidFill>
          <a:ln w="12700">
            <a:solidFill>
              <a:srgbClr val="6B7280"/>
            </a:solidFill>
            <a:prstDash val="solid"/>
          </a:ln>
        </p:spPr>
      </p:sp>
      <p:sp>
        <p:nvSpPr>
          <p:cNvPr id="15" name="box3"/>
          <p:cNvSpPr/>
          <p:nvPr/>
        </p:nvSpPr>
        <p:spPr>
          <a:xfrm>
            <a:off x="4709160" y="1234440"/>
            <a:ext cx="1280160" cy="1371600"/>
          </a:xfrm>
          <a:prstGeom prst="roundRect">
            <a:avLst>
              <a:gd name="adj" fmla="val 5714"/>
            </a:avLst>
          </a:prstGeom>
          <a:solidFill>
            <a:srgbClr val="0B3C5D"/>
          </a:solidFill>
          <a:ln w="12700">
            <a:solidFill>
              <a:srgbClr val="0B3C5D"/>
            </a:solidFill>
            <a:prstDash val="solid"/>
          </a:ln>
        </p:spPr>
      </p:sp>
      <p:sp>
        <p:nvSpPr>
          <p:cNvPr id="16" name="Text 14"/>
          <p:cNvSpPr txBox="1"/>
          <p:nvPr/>
        </p:nvSpPr>
        <p:spPr>
          <a:xfrm>
            <a:off x="4709160" y="1280160"/>
            <a:ext cx="1280160" cy="365760"/>
          </a:xfrm>
          <a:prstGeom prst="rect">
            <a:avLst/>
          </a:prstGeom>
          <a:noFill/>
          <a:ln/>
        </p:spPr>
        <p:txBody>
          <a:bodyPr wrap="square" lIns="0" tIns="0" rIns="0" bIns="0" rtlCol="0" anchor="ctr"/>
          <a:lstStyle/>
          <a:p>
            <a:pPr algn="ctr" indent="0" marL="0">
              <a:buNone/>
            </a:pPr>
            <a:r>
              <a:rPr lang="en-US" sz="1300" b="1" dirty="0">
                <a:solidFill>
                  <a:srgbClr val="FFFFFF"/>
                </a:solidFill>
              </a:rPr>
              <a:t>Expanding test</a:t>
            </a:r>
            <a:endParaRPr lang="en-US" sz="1300" dirty="0"/>
          </a:p>
        </p:txBody>
      </p:sp>
      <p:sp>
        <p:nvSpPr>
          <p:cNvPr id="17" name="Text 15"/>
          <p:cNvSpPr txBox="1"/>
          <p:nvPr/>
        </p:nvSpPr>
        <p:spPr>
          <a:xfrm>
            <a:off x="4754880" y="1645920"/>
            <a:ext cx="1188720" cy="914400"/>
          </a:xfrm>
          <a:prstGeom prst="rect">
            <a:avLst/>
          </a:prstGeom>
          <a:noFill/>
          <a:ln/>
        </p:spPr>
        <p:txBody>
          <a:bodyPr wrap="square" lIns="0" tIns="0" rIns="0" bIns="0" rtlCol="0" anchor="t"/>
          <a:lstStyle/>
          <a:p>
            <a:pPr algn="ctr" indent="0" marL="0">
              <a:buNone/>
            </a:pPr>
            <a:r>
              <a:rPr lang="en-US" sz="1000" dirty="0">
                <a:solidFill>
                  <a:srgbClr val="FFFFFF"/>
                </a:solidFill>
              </a:rPr>
              <a:t>2003-2014, 2-yr gap,</a:t>
            </a:r>
            <a:endParaRPr lang="en-US" sz="1000" dirty="0"/>
          </a:p>
          <a:p>
            <a:pPr algn="ctr" indent="0" marL="0">
              <a:buNone/>
            </a:pPr>
            <a:r>
              <a:rPr lang="en-US" sz="1000" dirty="0">
                <a:solidFill>
                  <a:srgbClr val="FFFFFF"/>
                </a:solidFill>
              </a:rPr>
              <a:t>serial masking</a:t>
            </a:r>
            <a:endParaRPr lang="en-US" sz="1000" dirty="0"/>
          </a:p>
        </p:txBody>
      </p:sp>
      <p:sp>
        <p:nvSpPr>
          <p:cNvPr id="18" name="arr3"/>
          <p:cNvSpPr/>
          <p:nvPr/>
        </p:nvSpPr>
        <p:spPr>
          <a:xfrm>
            <a:off x="5989320" y="1783080"/>
            <a:ext cx="137160" cy="274320"/>
          </a:xfrm>
          <a:prstGeom prst="rightArrow">
            <a:avLst/>
          </a:prstGeom>
          <a:solidFill>
            <a:srgbClr val="6B7280"/>
          </a:solidFill>
          <a:ln w="12700">
            <a:solidFill>
              <a:srgbClr val="6B7280"/>
            </a:solidFill>
            <a:prstDash val="solid"/>
          </a:ln>
        </p:spPr>
      </p:sp>
      <p:sp>
        <p:nvSpPr>
          <p:cNvPr id="19" name="box4"/>
          <p:cNvSpPr/>
          <p:nvPr/>
        </p:nvSpPr>
        <p:spPr>
          <a:xfrm>
            <a:off x="6126480" y="1234440"/>
            <a:ext cx="1280160" cy="1371600"/>
          </a:xfrm>
          <a:prstGeom prst="roundRect">
            <a:avLst>
              <a:gd name="adj" fmla="val 5714"/>
            </a:avLst>
          </a:prstGeom>
          <a:solidFill>
            <a:srgbClr val="0B3C5D"/>
          </a:solidFill>
          <a:ln w="12700">
            <a:solidFill>
              <a:srgbClr val="0B3C5D"/>
            </a:solidFill>
            <a:prstDash val="solid"/>
          </a:ln>
        </p:spPr>
      </p:sp>
      <p:sp>
        <p:nvSpPr>
          <p:cNvPr id="20" name="Text 18"/>
          <p:cNvSpPr txBox="1"/>
          <p:nvPr/>
        </p:nvSpPr>
        <p:spPr>
          <a:xfrm>
            <a:off x="6126480" y="1280160"/>
            <a:ext cx="1280160" cy="365760"/>
          </a:xfrm>
          <a:prstGeom prst="rect">
            <a:avLst/>
          </a:prstGeom>
          <a:noFill/>
          <a:ln/>
        </p:spPr>
        <p:txBody>
          <a:bodyPr wrap="square" lIns="0" tIns="0" rIns="0" bIns="0" rtlCol="0" anchor="ctr"/>
          <a:lstStyle/>
          <a:p>
            <a:pPr algn="ctr" indent="0" marL="0">
              <a:buNone/>
            </a:pPr>
            <a:r>
              <a:rPr lang="en-US" sz="1300" b="1" dirty="0">
                <a:solidFill>
                  <a:srgbClr val="FFFFFF"/>
                </a:solidFill>
              </a:rPr>
              <a:t>Statistics</a:t>
            </a:r>
            <a:endParaRPr lang="en-US" sz="1300" dirty="0"/>
          </a:p>
        </p:txBody>
      </p:sp>
      <p:sp>
        <p:nvSpPr>
          <p:cNvPr id="21" name="Text 19"/>
          <p:cNvSpPr txBox="1"/>
          <p:nvPr/>
        </p:nvSpPr>
        <p:spPr>
          <a:xfrm>
            <a:off x="6172200" y="1645920"/>
            <a:ext cx="1188720" cy="914400"/>
          </a:xfrm>
          <a:prstGeom prst="rect">
            <a:avLst/>
          </a:prstGeom>
          <a:noFill/>
          <a:ln/>
        </p:spPr>
        <p:txBody>
          <a:bodyPr wrap="square" lIns="0" tIns="0" rIns="0" bIns="0" rtlCol="0" anchor="t"/>
          <a:lstStyle/>
          <a:p>
            <a:pPr algn="ctr" indent="0" marL="0">
              <a:buNone/>
            </a:pPr>
            <a:r>
              <a:rPr lang="en-US" sz="1000" dirty="0">
                <a:solidFill>
                  <a:srgbClr val="FFFFFF"/>
                </a:solidFill>
              </a:rPr>
              <a:t>clustered bootstrap</a:t>
            </a:r>
            <a:endParaRPr lang="en-US" sz="1000" dirty="0"/>
          </a:p>
          <a:p>
            <a:pPr algn="ctr" indent="0" marL="0">
              <a:buNone/>
            </a:pPr>
            <a:r>
              <a:rPr lang="en-US" sz="1000" dirty="0">
                <a:solidFill>
                  <a:srgbClr val="FFFFFF"/>
                </a:solidFill>
              </a:rPr>
              <a:t>x1000, calibration</a:t>
            </a:r>
            <a:endParaRPr lang="en-US" sz="1000" dirty="0"/>
          </a:p>
        </p:txBody>
      </p:sp>
      <p:sp>
        <p:nvSpPr>
          <p:cNvPr id="22" name="arr4"/>
          <p:cNvSpPr/>
          <p:nvPr/>
        </p:nvSpPr>
        <p:spPr>
          <a:xfrm>
            <a:off x="7406640" y="1783080"/>
            <a:ext cx="137160" cy="274320"/>
          </a:xfrm>
          <a:prstGeom prst="rightArrow">
            <a:avLst/>
          </a:prstGeom>
          <a:solidFill>
            <a:srgbClr val="6B7280"/>
          </a:solidFill>
          <a:ln w="12700">
            <a:solidFill>
              <a:srgbClr val="6B7280"/>
            </a:solidFill>
            <a:prstDash val="solid"/>
          </a:ln>
        </p:spPr>
      </p:sp>
      <p:sp>
        <p:nvSpPr>
          <p:cNvPr id="23" name="box5"/>
          <p:cNvSpPr/>
          <p:nvPr/>
        </p:nvSpPr>
        <p:spPr>
          <a:xfrm>
            <a:off x="7543800" y="1234440"/>
            <a:ext cx="1280160" cy="1371600"/>
          </a:xfrm>
          <a:prstGeom prst="roundRect">
            <a:avLst>
              <a:gd name="adj" fmla="val 5714"/>
            </a:avLst>
          </a:prstGeom>
          <a:solidFill>
            <a:srgbClr val="D97706"/>
          </a:solidFill>
          <a:ln w="12700">
            <a:solidFill>
              <a:srgbClr val="D97706"/>
            </a:solidFill>
            <a:prstDash val="solid"/>
          </a:ln>
        </p:spPr>
      </p:sp>
      <p:sp>
        <p:nvSpPr>
          <p:cNvPr id="24" name="Text 22"/>
          <p:cNvSpPr txBox="1"/>
          <p:nvPr/>
        </p:nvSpPr>
        <p:spPr>
          <a:xfrm>
            <a:off x="7543800" y="1280160"/>
            <a:ext cx="1280160" cy="365760"/>
          </a:xfrm>
          <a:prstGeom prst="rect">
            <a:avLst/>
          </a:prstGeom>
          <a:noFill/>
          <a:ln/>
        </p:spPr>
        <p:txBody>
          <a:bodyPr wrap="square" lIns="0" tIns="0" rIns="0" bIns="0" rtlCol="0" anchor="ctr"/>
          <a:lstStyle/>
          <a:p>
            <a:pPr algn="ctr" indent="0" marL="0">
              <a:buNone/>
            </a:pPr>
            <a:r>
              <a:rPr lang="en-US" sz="1300" b="1" dirty="0">
                <a:solidFill>
                  <a:srgbClr val="FFFFFF"/>
                </a:solidFill>
              </a:rPr>
              <a:t>Deploy</a:t>
            </a:r>
            <a:endParaRPr lang="en-US" sz="1300" dirty="0"/>
          </a:p>
        </p:txBody>
      </p:sp>
      <p:sp>
        <p:nvSpPr>
          <p:cNvPr id="25" name="Text 23"/>
          <p:cNvSpPr txBox="1"/>
          <p:nvPr/>
        </p:nvSpPr>
        <p:spPr>
          <a:xfrm>
            <a:off x="7589520" y="1645920"/>
            <a:ext cx="1188720" cy="914400"/>
          </a:xfrm>
          <a:prstGeom prst="rect">
            <a:avLst/>
          </a:prstGeom>
          <a:noFill/>
          <a:ln/>
        </p:spPr>
        <p:txBody>
          <a:bodyPr wrap="square" lIns="0" tIns="0" rIns="0" bIns="0" rtlCol="0" anchor="t"/>
          <a:lstStyle/>
          <a:p>
            <a:pPr algn="ctr" indent="0" marL="0">
              <a:buNone/>
            </a:pPr>
            <a:r>
              <a:rPr lang="en-US" sz="1000" dirty="0">
                <a:solidFill>
                  <a:srgbClr val="FFFFFF"/>
                </a:solidFill>
              </a:rPr>
              <a:t>model + SHAP +</a:t>
            </a:r>
            <a:endParaRPr lang="en-US" sz="1000" dirty="0"/>
          </a:p>
          <a:p>
            <a:pPr algn="ctr" indent="0" marL="0">
              <a:buNone/>
            </a:pPr>
            <a:r>
              <a:rPr lang="en-US" sz="1000" dirty="0">
                <a:solidFill>
                  <a:srgbClr val="FFFFFF"/>
                </a:solidFill>
              </a:rPr>
              <a:t>scoring script</a:t>
            </a:r>
            <a:endParaRPr lang="en-US" sz="1000" dirty="0"/>
          </a:p>
        </p:txBody>
      </p:sp>
      <p:sp>
        <p:nvSpPr>
          <p:cNvPr id="26" name="Text 24"/>
          <p:cNvSpPr txBox="1"/>
          <p:nvPr/>
        </p:nvSpPr>
        <p:spPr>
          <a:xfrm>
            <a:off x="457200" y="28346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Everything the paper did is kept: expanding window, 2-year gap, serial-fraud masking, tuning only on data before 2003.</a:t>
            </a:r>
            <a:endParaRPr lang="en-US" sz="1250" dirty="0"/>
          </a:p>
          <a:p>
            <a:pPr marL="342900" indent="-342900">
              <a:spcAft>
                <a:spcPts val="600"/>
              </a:spcAft>
              <a:buSzPct val="100000"/>
              <a:buChar char="•"/>
            </a:pPr>
            <a:r>
              <a:rPr lang="en-US" sz="1250" dirty="0">
                <a:solidFill>
                  <a:schemeClr val="tx1"/>
                </a:solidFill>
              </a:rPr>
              <a:t>Added: winsorising refit on every training window (no fixed 1991-2001 caps leaking into 2014); test years with under 15 frauds excluded from averages (2013, 2014).</a:t>
            </a:r>
            <a:endParaRPr lang="en-US" sz="1250" dirty="0"/>
          </a:p>
          <a:p>
            <a:pPr marL="342900" indent="-342900">
              <a:spcAft>
                <a:spcPts val="600"/>
              </a:spcAft>
              <a:buSzPct val="100000"/>
              <a:buChar char="•"/>
            </a:pPr>
            <a:r>
              <a:rPr lang="en-US" sz="1250" dirty="0">
                <a:solidFill>
                  <a:schemeClr val="tx1"/>
                </a:solidFill>
              </a:rPr>
              <a:t>Baseline re-implemented in Python from the authors' MATLAB settings (300 trees, leaf 5, LR 0.1, 1:1, 10 splits per tree) and reproduces their AUC range.</a:t>
            </a:r>
            <a:endParaRPr lang="en-US" sz="1250" dirty="0"/>
          </a:p>
          <a:p>
            <a:pPr marL="342900" indent="-342900">
              <a:spcAft>
                <a:spcPts val="600"/>
              </a:spcAft>
              <a:buSzPct val="100000"/>
              <a:buChar char="•"/>
            </a:pPr>
            <a:r>
              <a:rPr lang="en-US" sz="1250" dirty="0">
                <a:solidFill>
                  <a:schemeClr val="tx1"/>
                </a:solidFill>
              </a:rPr>
              <a:t>Code: run_pipeline.py (18 min on a laptop CPU), src/{features, models, evaluate, explain}.py, score_new_data.py, smoke test.</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Improvement 1: scale-free feature engineering</a:t>
            </a:r>
            <a:endParaRPr lang="en-US" sz="2600" dirty="0"/>
          </a:p>
        </p:txBody>
      </p:sp>
      <p:sp>
        <p:nvSpPr>
          <p:cNvPr id="3" name="Text 1"/>
          <p:cNvSpPr txBox="1"/>
          <p:nvPr/>
        </p:nvSpPr>
        <p:spPr>
          <a:xfrm>
            <a:off x="457200" y="1097280"/>
            <a:ext cx="4754880" cy="3566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Dropped all 28 raw dollar items from the proposed model (kept for the baseline only).</a:t>
            </a:r>
            <a:endParaRPr lang="en-US" sz="1300" dirty="0"/>
          </a:p>
          <a:p>
            <a:pPr marL="342900" indent="-342900">
              <a:spcAft>
                <a:spcPts val="600"/>
              </a:spcAft>
              <a:buSzPct val="100000"/>
              <a:buChar char="•"/>
            </a:pPr>
            <a:r>
              <a:rPr lang="en-US" sz="1300" dirty="0">
                <a:solidFill>
                  <a:schemeClr val="tx1"/>
                </a:solidFill>
              </a:rPr>
              <a:t>Added Beneish M-score components (DSRI, GMI, AQI, SGI, DEPI, TATA, LVGI), Altman Z, common-size balance-sheet ratios, growth gaps, external-financing need.</a:t>
            </a:r>
            <a:endParaRPr lang="en-US" sz="1300" dirty="0"/>
          </a:p>
          <a:p>
            <a:pPr marL="342900" indent="-342900">
              <a:spcAft>
                <a:spcPts val="600"/>
              </a:spcAft>
              <a:buSzPct val="100000"/>
              <a:buChar char="•"/>
            </a:pPr>
            <a:r>
              <a:rPr lang="en-US" sz="1300" dirty="0">
                <a:solidFill>
                  <a:schemeClr val="tx1"/>
                </a:solidFill>
              </a:rPr>
              <a:t>Added within-year percentile ranks of every ratio: a firm is compared with its own year's market, which removes era drift (1991 vs 2014).</a:t>
            </a:r>
            <a:endParaRPr lang="en-US" sz="1300" dirty="0"/>
          </a:p>
          <a:p>
            <a:pPr marL="342900" indent="-342900">
              <a:spcAft>
                <a:spcPts val="600"/>
              </a:spcAft>
              <a:buSzPct val="100000"/>
              <a:buChar char="•"/>
            </a:pPr>
            <a:r>
              <a:rPr lang="en-US" sz="1300" dirty="0">
                <a:solidFill>
                  <a:schemeClr val="tx1"/>
                </a:solidFill>
              </a:rPr>
              <a:t>Feature set chosen by validation AUC on pre-2003 folds, never on test years.</a:t>
            </a:r>
            <a:endParaRPr lang="en-US" sz="1300" dirty="0"/>
          </a:p>
        </p:txBody>
      </p:sp>
      <p:graphicFrame>
        <p:nvGraphicFramePr>
          <p:cNvPr id="4" name="Chart 0" descr=""/>
          <p:cNvGraphicFramePr/>
          <p:nvPr/>
        </p:nvGraphicFramePr>
        <p:xfrm>
          <a:off x="5394960" y="1097280"/>
          <a:ext cx="3291840" cy="35661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Improvement 2: tuned, balanced-bagged ensemble</a:t>
            </a:r>
            <a:endParaRPr lang="en-US" sz="2600" dirty="0"/>
          </a:p>
        </p:txBody>
      </p:sp>
      <p:sp>
        <p:nvSpPr>
          <p:cNvPr id="3" name="Text 1"/>
          <p:cNvSpPr txBox="1"/>
          <p:nvPr/>
        </p:nvSpPr>
        <p:spPr>
          <a:xfrm>
            <a:off x="457200" y="1097280"/>
            <a:ext cx="4754880" cy="3566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Members: LightGBM, XGBoost and logistic regression, each trained as balanced bags (all frauds plus a random 5-10x sample of non-frauds, 10 bags).</a:t>
            </a:r>
            <a:endParaRPr lang="en-US" sz="1300" dirty="0"/>
          </a:p>
          <a:p>
            <a:pPr marL="342900" indent="-342900">
              <a:spcAft>
                <a:spcPts val="600"/>
              </a:spcAft>
              <a:buSzPct val="100000"/>
              <a:buChar char="•"/>
            </a:pPr>
            <a:r>
              <a:rPr lang="en-US" sz="1300" dirty="0">
                <a:solidFill>
                  <a:schemeClr val="tx1"/>
                </a:solidFill>
              </a:rPr>
              <a:t>Hyper-parameters by random search (20 trials each) on rolling-origin CV using only pre-2003 data.</a:t>
            </a:r>
            <a:endParaRPr lang="en-US" sz="1300" dirty="0"/>
          </a:p>
          <a:p>
            <a:pPr marL="342900" indent="-342900">
              <a:spcAft>
                <a:spcPts val="600"/>
              </a:spcAft>
              <a:buSzPct val="100000"/>
              <a:buChar char="•"/>
            </a:pPr>
            <a:r>
              <a:rPr lang="en-US" sz="1300" dirty="0">
                <a:solidFill>
                  <a:schemeClr val="tx1"/>
                </a:solidFill>
              </a:rPr>
              <a:t>Members are rank-averaged within each test year, exactly as the paper scores within a year.</a:t>
            </a:r>
            <a:endParaRPr lang="en-US" sz="1300" dirty="0"/>
          </a:p>
          <a:p>
            <a:pPr marL="342900" indent="-342900">
              <a:spcAft>
                <a:spcPts val="600"/>
              </a:spcAft>
              <a:buSzPct val="100000"/>
              <a:buChar char="•"/>
            </a:pPr>
            <a:r>
              <a:rPr lang="en-US" sz="1300" dirty="0">
                <a:solidFill>
                  <a:schemeClr val="tx1"/>
                </a:solidFill>
              </a:rPr>
              <a:t>Ensemble chosen on validation AUC with a simplicity tie-break; the baseline model is never a member.</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394960" y="1097280"/>
          <a:ext cx="3291840" cy="914400"/>
        </p:xfrm>
        <a:graphic>
          <a:graphicData uri="http://schemas.openxmlformats.org/drawingml/2006/table">
            <a:tbl>
              <a:tblPr/>
              <a:tblGrid>
                <a:gridCol w="2377440"/>
                <a:gridCol w="914400"/>
              </a:tblGrid>
              <a:tr h="0">
                <a:tc>
                  <a:txBody>
                    <a:bodyPr/>
                    <a:lstStyle/>
                    <a:p>
                      <a:pPr indent="0" marL="0">
                        <a:buNone/>
                      </a:pPr>
                      <a:r>
                        <a:rPr lang="en-US" sz="1100" b="1" dirty="0">
                          <a:solidFill>
                            <a:srgbClr val="FFFFFF"/>
                          </a:solidFill>
                        </a:rPr>
                        <a:t>Candidate</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c>
                  <a:txBody>
                    <a:bodyPr/>
                    <a:lstStyle/>
                    <a:p>
                      <a:pPr indent="0" marL="0">
                        <a:buNone/>
                      </a:pPr>
                      <a:r>
                        <a:rPr lang="en-US" sz="1100" b="1" dirty="0">
                          <a:solidFill>
                            <a:srgbClr val="FFFFFF"/>
                          </a:solidFill>
                        </a:rPr>
                        <a:t>CV AUC</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r>
              <a:tr h="0">
                <a:tc>
                  <a:txBody>
                    <a:bodyPr/>
                    <a:lstStyle/>
                    <a:p>
                      <a:pPr indent="0" marL="0">
                        <a:buNone/>
                      </a:pPr>
                      <a:r>
                        <a:rPr lang="en-US" sz="1100" dirty="0">
                          <a:solidFill>
                            <a:srgbClr val="1F2933"/>
                          </a:solidFill>
                        </a:rPr>
                        <a:t>RUSBoost raw 28 (baseline)</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0.690</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1100" dirty="0">
                          <a:solidFill>
                            <a:srgbClr val="1F2933"/>
                          </a:solidFill>
                        </a:rPr>
                        <a:t>RUSBoost enhanced</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0.736</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1100" dirty="0">
                          <a:solidFill>
                            <a:srgbClr val="1F2933"/>
                          </a:solidFill>
                        </a:rPr>
                        <a:t>LightGBM</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0.746</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1100" dirty="0">
                          <a:solidFill>
                            <a:srgbClr val="1F2933"/>
                          </a:solidFill>
                        </a:rPr>
                        <a:t>XGBoost</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0.749</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1100" dirty="0">
                          <a:solidFill>
                            <a:srgbClr val="1F2933"/>
                          </a:solidFill>
                        </a:rPr>
                        <a:t>Logistic regression</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0.743</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1100" dirty="0">
                          <a:solidFill>
                            <a:srgbClr val="1F2933"/>
                          </a:solidFill>
                        </a:rPr>
                        <a:t>LGBM + XGB</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0.751</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1100" dirty="0">
                          <a:solidFill>
                            <a:srgbClr val="1F2933"/>
                          </a:solidFill>
                        </a:rPr>
                        <a:t>LGBM + XGB + LR  (chosen)</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0.760</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Improvements 3 to 5: decision step, statistics, deployment</a:t>
            </a:r>
            <a:endParaRPr lang="en-US" sz="2600" dirty="0"/>
          </a:p>
        </p:txBody>
      </p:sp>
      <p:sp>
        <p:nvSpPr>
          <p:cNvPr id="3" name="3. Decision step"/>
          <p:cNvSpPr/>
          <p:nvPr/>
        </p:nvSpPr>
        <p:spPr>
          <a:xfrm>
            <a:off x="457200" y="1097280"/>
            <a:ext cx="2651760" cy="3566160"/>
          </a:xfrm>
          <a:prstGeom prst="roundRect">
            <a:avLst>
              <a:gd name="adj" fmla="val 2759"/>
            </a:avLst>
          </a:prstGeom>
          <a:solidFill>
            <a:srgbClr val="EEF2F7"/>
          </a:solidFill>
          <a:ln w="12700">
            <a:solidFill>
              <a:srgbClr val="EEF2F7"/>
            </a:solidFill>
            <a:prstDash val="solid"/>
          </a:ln>
        </p:spPr>
      </p:sp>
      <p:sp>
        <p:nvSpPr>
          <p:cNvPr id="4" name="Text 2"/>
          <p:cNvSpPr txBox="1"/>
          <p:nvPr/>
        </p:nvSpPr>
        <p:spPr>
          <a:xfrm>
            <a:off x="594360" y="11887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3. Decision step</a:t>
            </a:r>
            <a:endParaRPr lang="en-US" sz="1300" dirty="0"/>
          </a:p>
        </p:txBody>
      </p:sp>
      <p:sp>
        <p:nvSpPr>
          <p:cNvPr id="5" name="Text 3"/>
          <p:cNvSpPr txBox="1"/>
          <p:nvPr/>
        </p:nvSpPr>
        <p:spPr>
          <a:xfrm>
            <a:off x="594360" y="1508760"/>
            <a:ext cx="2377440" cy="3063240"/>
          </a:xfrm>
          <a:prstGeom prst="rect">
            <a:avLst/>
          </a:prstGeom>
          <a:noFill/>
          <a:ln/>
        </p:spPr>
        <p:txBody>
          <a:bodyPr wrap="square" lIns="0" tIns="0" rIns="0" bIns="0" rtlCol="0" anchor="t"/>
          <a:lstStyle/>
          <a:p>
            <a:pPr indent="0" marL="0">
              <a:buNone/>
            </a:pPr>
            <a:r>
              <a:rPr lang="en-US" sz="1150" dirty="0">
                <a:solidFill>
                  <a:schemeClr val="tx1"/>
                </a:solidFill>
              </a:rPr>
              <a:t>Precision, recall and lift at a 1%, 2% and 5% investigation budget, per year, plus a confusion matrix at 1%.</a:t>
            </a:r>
            <a:endParaRPr lang="en-US" sz="1150" dirty="0"/>
          </a:p>
          <a:p>
            <a:pPr indent="0" marL="0">
              <a:buNone/>
            </a:pPr>
            <a:endParaRPr lang="en-US" sz="1150" dirty="0"/>
          </a:p>
          <a:p>
            <a:pPr indent="0" marL="0">
              <a:buNone/>
            </a:pPr>
            <a:r>
              <a:rPr lang="en-US" sz="1150" dirty="0">
                <a:solidFill>
                  <a:schemeClr val="tx1"/>
                </a:solidFill>
              </a:rPr>
              <a:t>Isotonic regression turns the rank score into a calibrated fraud probability (fit on out-of-sample 2003-2010 scores).</a:t>
            </a:r>
            <a:endParaRPr lang="en-US" sz="1150" dirty="0"/>
          </a:p>
          <a:p>
            <a:pPr indent="0" marL="0">
              <a:buNone/>
            </a:pPr>
            <a:endParaRPr lang="en-US" sz="1150" dirty="0"/>
          </a:p>
          <a:p>
            <a:pPr indent="0" marL="0">
              <a:buNone/>
            </a:pPr>
            <a:r>
              <a:rPr lang="en-US" sz="1150" dirty="0">
                <a:solidFill>
                  <a:schemeClr val="tx1"/>
                </a:solidFill>
              </a:rPr>
              <a:t>Plain-language output: "frauds found per 100 investigations".</a:t>
            </a:r>
            <a:endParaRPr lang="en-US" sz="1150" dirty="0"/>
          </a:p>
        </p:txBody>
      </p:sp>
      <p:sp>
        <p:nvSpPr>
          <p:cNvPr id="6" name="4. Honest statistics"/>
          <p:cNvSpPr/>
          <p:nvPr/>
        </p:nvSpPr>
        <p:spPr>
          <a:xfrm>
            <a:off x="3246120" y="1097280"/>
            <a:ext cx="2651760" cy="3566160"/>
          </a:xfrm>
          <a:prstGeom prst="roundRect">
            <a:avLst>
              <a:gd name="adj" fmla="val 2759"/>
            </a:avLst>
          </a:prstGeom>
          <a:solidFill>
            <a:srgbClr val="FFF7ED"/>
          </a:solidFill>
          <a:ln w="12700">
            <a:solidFill>
              <a:srgbClr val="FFF7ED"/>
            </a:solidFill>
            <a:prstDash val="solid"/>
          </a:ln>
        </p:spPr>
      </p:sp>
      <p:sp>
        <p:nvSpPr>
          <p:cNvPr id="7" name="Text 5"/>
          <p:cNvSpPr txBox="1"/>
          <p:nvPr/>
        </p:nvSpPr>
        <p:spPr>
          <a:xfrm>
            <a:off x="3383280" y="11887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4. Honest statistics</a:t>
            </a:r>
            <a:endParaRPr lang="en-US" sz="1300" dirty="0"/>
          </a:p>
        </p:txBody>
      </p:sp>
      <p:sp>
        <p:nvSpPr>
          <p:cNvPr id="8" name="Text 6"/>
          <p:cNvSpPr txBox="1"/>
          <p:nvPr/>
        </p:nvSpPr>
        <p:spPr>
          <a:xfrm>
            <a:off x="3383280" y="1508760"/>
            <a:ext cx="2377440" cy="3063240"/>
          </a:xfrm>
          <a:prstGeom prst="rect">
            <a:avLst/>
          </a:prstGeom>
          <a:noFill/>
          <a:ln/>
        </p:spPr>
        <p:txBody>
          <a:bodyPr wrap="square" lIns="0" tIns="0" rIns="0" bIns="0" rtlCol="0" anchor="t"/>
          <a:lstStyle/>
          <a:p>
            <a:pPr indent="0" marL="0">
              <a:buNone/>
            </a:pPr>
            <a:r>
              <a:rPr lang="en-US" sz="1150" dirty="0">
                <a:solidFill>
                  <a:schemeClr val="tx1"/>
                </a:solidFill>
              </a:rPr>
              <a:t>Paired bootstrap, 1,000 resamples, clustered by AAER case for frauds and by firm for non-frauds (observations are not independent).</a:t>
            </a:r>
            <a:endParaRPr lang="en-US" sz="1150" dirty="0"/>
          </a:p>
          <a:p>
            <a:pPr indent="0" marL="0">
              <a:buNone/>
            </a:pPr>
            <a:endParaRPr lang="en-US" sz="1150" dirty="0"/>
          </a:p>
          <a:p>
            <a:pPr indent="0" marL="0">
              <a:buNone/>
            </a:pPr>
            <a:r>
              <a:rPr lang="en-US" sz="1150" dirty="0">
                <a:solidFill>
                  <a:schemeClr val="tx1"/>
                </a:solidFill>
              </a:rPr>
              <a:t>CIs for AUC, NDCG@5% and Sens@5%, not just AUC.</a:t>
            </a:r>
            <a:endParaRPr lang="en-US" sz="1150" dirty="0"/>
          </a:p>
          <a:p>
            <a:pPr indent="0" marL="0">
              <a:buNone/>
            </a:pPr>
            <a:endParaRPr lang="en-US" sz="1150" dirty="0"/>
          </a:p>
          <a:p>
            <a:pPr indent="0" marL="0">
              <a:buNone/>
            </a:pPr>
            <a:r>
              <a:rPr lang="en-US" sz="1150" dirty="0">
                <a:solidFill>
                  <a:schemeClr val="tx1"/>
                </a:solidFill>
              </a:rPr>
              <a:t>Years with fewer than 15 frauds (2013: 11, 2014: 4) are listed but excluded from averages.</a:t>
            </a:r>
            <a:endParaRPr lang="en-US" sz="1150" dirty="0"/>
          </a:p>
        </p:txBody>
      </p:sp>
      <p:sp>
        <p:nvSpPr>
          <p:cNvPr id="9" name="5. Deployment and SHAP"/>
          <p:cNvSpPr/>
          <p:nvPr/>
        </p:nvSpPr>
        <p:spPr>
          <a:xfrm>
            <a:off x="6035040" y="1097280"/>
            <a:ext cx="2651760" cy="3566160"/>
          </a:xfrm>
          <a:prstGeom prst="roundRect">
            <a:avLst>
              <a:gd name="adj" fmla="val 2759"/>
            </a:avLst>
          </a:prstGeom>
          <a:solidFill>
            <a:srgbClr val="EEF2F7"/>
          </a:solidFill>
          <a:ln w="12700">
            <a:solidFill>
              <a:srgbClr val="EEF2F7"/>
            </a:solidFill>
            <a:prstDash val="solid"/>
          </a:ln>
        </p:spPr>
      </p:sp>
      <p:sp>
        <p:nvSpPr>
          <p:cNvPr id="10" name="Text 8"/>
          <p:cNvSpPr txBox="1"/>
          <p:nvPr/>
        </p:nvSpPr>
        <p:spPr>
          <a:xfrm>
            <a:off x="6172200" y="11887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5. Deployment and SHAP</a:t>
            </a:r>
            <a:endParaRPr lang="en-US" sz="1300" dirty="0"/>
          </a:p>
        </p:txBody>
      </p:sp>
      <p:sp>
        <p:nvSpPr>
          <p:cNvPr id="11" name="Text 9"/>
          <p:cNvSpPr txBox="1"/>
          <p:nvPr/>
        </p:nvSpPr>
        <p:spPr>
          <a:xfrm>
            <a:off x="6172200" y="1508760"/>
            <a:ext cx="2377440" cy="3063240"/>
          </a:xfrm>
          <a:prstGeom prst="rect">
            <a:avLst/>
          </a:prstGeom>
          <a:noFill/>
          <a:ln/>
        </p:spPr>
        <p:txBody>
          <a:bodyPr wrap="square" lIns="0" tIns="0" rIns="0" bIns="0" rtlCol="0" anchor="t"/>
          <a:lstStyle/>
          <a:p>
            <a:pPr indent="0" marL="0">
              <a:buNone/>
            </a:pPr>
            <a:r>
              <a:rPr lang="en-US" sz="1150" dirty="0">
                <a:solidFill>
                  <a:schemeClr val="tx1"/>
                </a:solidFill>
              </a:rPr>
              <a:t>Deployable model trained on 1991-2010 only, because 2011+ labels are still arriving (69 frauds in 2003 vs 4 in 2014).</a:t>
            </a:r>
            <a:endParaRPr lang="en-US" sz="1150" dirty="0"/>
          </a:p>
          <a:p>
            <a:pPr indent="0" marL="0">
              <a:buNone/>
            </a:pPr>
            <a:endParaRPr lang="en-US" sz="1150" dirty="0"/>
          </a:p>
          <a:p>
            <a:pPr indent="0" marL="0">
              <a:buNone/>
            </a:pPr>
            <a:r>
              <a:rPr lang="en-US" sz="1150" dirty="0">
                <a:solidFill>
                  <a:schemeClr val="tx1"/>
                </a:solidFill>
              </a:rPr>
              <a:t>SHAP computed on the actual deployed members, all bags, on a real-base-rate sample of 2012-2014.</a:t>
            </a:r>
            <a:endParaRPr lang="en-US" sz="1150" dirty="0"/>
          </a:p>
          <a:p>
            <a:pPr indent="0" marL="0">
              <a:buNone/>
            </a:pPr>
            <a:endParaRPr lang="en-US" sz="1150" dirty="0"/>
          </a:p>
          <a:p>
            <a:pPr indent="0" marL="0">
              <a:buNone/>
            </a:pPr>
            <a:r>
              <a:rPr lang="en-US" sz="1150" dirty="0">
                <a:solidFill>
                  <a:schemeClr val="tx1"/>
                </a:solidFill>
              </a:rPr>
              <a:t>score_new_data.py ranks new firms against the full market of the same year and outputs probability and percentile.</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lIns="0" tIns="0" rIns="0" bIns="0" rtlCol="0" anchor="ctr"/>
          <a:lstStyle/>
          <a:p>
            <a:pPr indent="0" marL="0">
              <a:buNone/>
            </a:pPr>
            <a:r>
              <a:rPr lang="en-US" sz="3600" b="1" dirty="0">
                <a:solidFill>
                  <a:schemeClr val="bg1"/>
                </a:solidFill>
              </a:rPr>
              <a:t>4 · Results</a:t>
            </a:r>
            <a:endParaRPr lang="en-US" sz="3600" dirty="0"/>
          </a:p>
        </p:txBody>
      </p:sp>
      <p:sp>
        <p:nvSpPr>
          <p:cNvPr id="3" name="Text 0"/>
          <p:cNvSpPr/>
          <p:nvPr>
            <p:ph idx="101" type="body" hasCustomPrompt="1"/>
          </p:nvPr>
        </p:nvSpPr>
        <p:spPr>
          <a:xfrm>
            <a:off x="548640" y="2971800"/>
            <a:ext cx="8046720" cy="822960"/>
          </a:xfrm>
          <a:prstGeom prst="rect">
            <a:avLst/>
          </a:prstGeom>
          <a:noFill/>
          <a:ln/>
        </p:spPr>
        <p:txBody>
          <a:bodyPr wrap="square" lIns="0" tIns="0" rIns="0" bIns="0" rtlCol="0" anchor="t"/>
          <a:lstStyle/>
          <a:p>
            <a:pPr indent="0" marL="0">
              <a:buNone/>
            </a:pPr>
            <a:r>
              <a:rPr lang="en-US" sz="1600" dirty="0">
                <a:solidFill>
                  <a:srgbClr val="CADCFC"/>
                </a:solidFill>
              </a:rPr>
              <a:t>Test years 2003-2012 (2013-2014 excluded for too few frauds); mean of yearly metrics; same protocol as the paper</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Headline: AUC 0.705 to 0.732, a significant gain</a:t>
            </a:r>
            <a:endParaRPr lang="en-US" sz="2600" dirty="0"/>
          </a:p>
        </p:txBody>
      </p:sp>
      <p:graphicFrame>
        <p:nvGraphicFramePr>
          <p:cNvPr id="3" name="Chart 0" descr=""/>
          <p:cNvGraphicFramePr/>
          <p:nvPr/>
        </p:nvGraphicFramePr>
        <p:xfrm>
          <a:off x="457200" y="1051560"/>
          <a:ext cx="484632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0" y="1051560"/>
          <a:ext cx="3200400" cy="914400"/>
        </p:xfrm>
        <a:graphic>
          <a:graphicData uri="http://schemas.openxmlformats.org/drawingml/2006/table">
            <a:tbl>
              <a:tblPr/>
              <a:tblGrid>
                <a:gridCol w="822960"/>
                <a:gridCol w="594360"/>
                <a:gridCol w="1143000"/>
                <a:gridCol w="640080"/>
              </a:tblGrid>
              <a:tr h="0">
                <a:tc>
                  <a:txBody>
                    <a:bodyPr/>
                    <a:lstStyle/>
                    <a:p>
                      <a:pPr indent="0" marL="0">
                        <a:buNone/>
                      </a:pPr>
                      <a:r>
                        <a:rPr lang="en-US" sz="950" b="1" dirty="0">
                          <a:solidFill>
                            <a:srgbClr val="FFFFFF"/>
                          </a:solidFill>
                        </a:rPr>
                        <a:t>Metric</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c>
                  <a:txBody>
                    <a:bodyPr/>
                    <a:lstStyle/>
                    <a:p>
                      <a:pPr indent="0" marL="0">
                        <a:buNone/>
                      </a:pPr>
                      <a:r>
                        <a:rPr lang="en-US" sz="950" b="1" dirty="0">
                          <a:solidFill>
                            <a:srgbClr val="FFFFFF"/>
                          </a:solidFill>
                        </a:rPr>
                        <a:t>Gain</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c>
                  <a:txBody>
                    <a:bodyPr/>
                    <a:lstStyle/>
                    <a:p>
                      <a:pPr indent="0" marL="0">
                        <a:buNone/>
                      </a:pPr>
                      <a:r>
                        <a:rPr lang="en-US" sz="950" b="1" dirty="0">
                          <a:solidFill>
                            <a:srgbClr val="FFFFFF"/>
                          </a:solidFill>
                        </a:rPr>
                        <a:t>95% CI</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c>
                  <a:txBody>
                    <a:bodyPr/>
                    <a:lstStyle/>
                    <a:p>
                      <a:pPr indent="0" marL="0">
                        <a:buNone/>
                      </a:pPr>
                      <a:r>
                        <a:rPr lang="en-US" sz="950" b="1" dirty="0">
                          <a:solidFill>
                            <a:srgbClr val="FFFFFF"/>
                          </a:solidFill>
                        </a:rPr>
                        <a:t>P(gain&lt;=0)</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r>
              <a:tr h="0">
                <a:tc>
                  <a:txBody>
                    <a:bodyPr/>
                    <a:lstStyle/>
                    <a:p>
                      <a:pPr indent="0" marL="0">
                        <a:buNone/>
                      </a:pPr>
                      <a:r>
                        <a:rPr lang="en-US" sz="950" dirty="0">
                          <a:solidFill>
                            <a:srgbClr val="1F2933"/>
                          </a:solidFill>
                        </a:rPr>
                        <a:t>AUC</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950" dirty="0">
                          <a:solidFill>
                            <a:srgbClr val="1F2933"/>
                          </a:solidFill>
                        </a:rPr>
                        <a:t>+0.027</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950" dirty="0">
                          <a:solidFill>
                            <a:srgbClr val="1F2933"/>
                          </a:solidFill>
                        </a:rPr>
                        <a:t>[+0.007, +0.045]</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950" dirty="0">
                          <a:solidFill>
                            <a:srgbClr val="1F2933"/>
                          </a:solidFill>
                        </a:rPr>
                        <a:t>0.002</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950" dirty="0">
                          <a:solidFill>
                            <a:srgbClr val="1F2933"/>
                          </a:solidFill>
                        </a:rPr>
                        <a:t>Sens@5%</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950" dirty="0">
                          <a:solidFill>
                            <a:srgbClr val="1F2933"/>
                          </a:solidFill>
                        </a:rPr>
                        <a:t>+0.057</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950" dirty="0">
                          <a:solidFill>
                            <a:srgbClr val="1F2933"/>
                          </a:solidFill>
                        </a:rPr>
                        <a:t>[+0.013, +0.095]</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950" dirty="0">
                          <a:solidFill>
                            <a:srgbClr val="1F2933"/>
                          </a:solidFill>
                        </a:rPr>
                        <a:t>0.004</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950" dirty="0">
                          <a:solidFill>
                            <a:srgbClr val="1F2933"/>
                          </a:solidFill>
                        </a:rPr>
                        <a:t>NDCG@5%</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950" dirty="0">
                          <a:solidFill>
                            <a:srgbClr val="1F2933"/>
                          </a:solidFill>
                        </a:rPr>
                        <a:t>+0.015</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950" dirty="0">
                          <a:solidFill>
                            <a:srgbClr val="1F2933"/>
                          </a:solidFill>
                        </a:rPr>
                        <a:t>[-0.012, +0.042]</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950" dirty="0">
                          <a:solidFill>
                            <a:srgbClr val="1F2933"/>
                          </a:solidFill>
                        </a:rPr>
                        <a:t>0.135</a:t>
                      </a:r>
                      <a:endParaRPr lang="en-US" sz="95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bl>
          </a:graphicData>
        </a:graphic>
      </p:graphicFrame>
      <p:sp>
        <p:nvSpPr>
          <p:cNvPr id="5" name="Text 1"/>
          <p:cNvSpPr txBox="1"/>
          <p:nvPr/>
        </p:nvSpPr>
        <p:spPr>
          <a:xfrm>
            <a:off x="5486400" y="2880360"/>
            <a:ext cx="3200400" cy="18288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rPr>
              <a:t>AUC and Sens@5% gains are statistically significant under a case-clustered bootstrap.</a:t>
            </a:r>
            <a:endParaRPr lang="en-US" sz="1100" dirty="0"/>
          </a:p>
          <a:p>
            <a:pPr marL="342900" indent="-342900">
              <a:spcAft>
                <a:spcPts val="600"/>
              </a:spcAft>
              <a:buSzPct val="100000"/>
              <a:buChar char="•"/>
            </a:pPr>
            <a:r>
              <a:rPr lang="en-US" sz="1100" dirty="0">
                <a:solidFill>
                  <a:schemeClr val="tx1"/>
                </a:solidFill>
              </a:rPr>
              <a:t>NDCG@5% improves but not significantly.</a:t>
            </a:r>
            <a:endParaRPr lang="en-US" sz="1100" dirty="0"/>
          </a:p>
          <a:p>
            <a:pPr marL="342900" indent="-342900">
              <a:spcAft>
                <a:spcPts val="600"/>
              </a:spcAft>
              <a:buSzPct val="100000"/>
              <a:buChar char="•"/>
            </a:pPr>
            <a:r>
              <a:rPr lang="en-US" sz="1100" dirty="0">
                <a:solidFill>
                  <a:schemeClr val="tx1"/>
                </a:solidFill>
              </a:rPr>
              <a:t>RUSBoost on the new features alone reaches 0.732: the features do most of the work, the ensemble adds top-of-list recall.</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Year by year: the gain is consistent after 2006</a:t>
            </a:r>
            <a:endParaRPr lang="en-US" sz="2600" dirty="0"/>
          </a:p>
        </p:txBody>
      </p:sp>
      <p:graphicFrame>
        <p:nvGraphicFramePr>
          <p:cNvPr id="3" name="Chart 0" descr=""/>
          <p:cNvGraphicFramePr/>
          <p:nvPr/>
        </p:nvGraphicFramePr>
        <p:xfrm>
          <a:off x="457200" y="1051560"/>
          <a:ext cx="5669280" cy="36576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309360" y="1097280"/>
            <a:ext cx="2377440" cy="36576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1"/>
                </a:solidFill>
              </a:rPr>
              <a:t>Baseline collapses in 2007-2009 (AUC 0.64-0.67, the financial-crisis years); the proposed model stays near 0.72.</a:t>
            </a:r>
            <a:endParaRPr lang="en-US" sz="1150" dirty="0"/>
          </a:p>
          <a:p>
            <a:pPr marL="342900" indent="-342900">
              <a:spcAft>
                <a:spcPts val="600"/>
              </a:spcAft>
              <a:buSzPct val="100000"/>
              <a:buChar char="•"/>
            </a:pPr>
            <a:r>
              <a:rPr lang="en-US" sz="1150" dirty="0">
                <a:solidFill>
                  <a:schemeClr val="tx1"/>
                </a:solidFill>
              </a:rPr>
              <a:t>Proposed wins 7 of the 10 scored years; the losses (2003, 2005, 2006) are within 0.015.</a:t>
            </a:r>
            <a:endParaRPr lang="en-US" sz="1150" dirty="0"/>
          </a:p>
          <a:p>
            <a:pPr marL="342900" indent="-342900">
              <a:spcAft>
                <a:spcPts val="600"/>
              </a:spcAft>
              <a:buSzPct val="100000"/>
              <a:buChar char="•"/>
            </a:pPr>
            <a:r>
              <a:rPr lang="en-US" sz="1150" dirty="0">
                <a:solidFill>
                  <a:schemeClr val="tx1"/>
                </a:solidFill>
              </a:rPr>
              <a:t>Fraud counts per test year fall from 69 to 4, which is why late years are noisy and why the deployable model stops training at 2010.</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Decision step: what an investigator actually gets</a:t>
            </a:r>
            <a:endParaRPr lang="en-US" sz="2600" dirty="0"/>
          </a:p>
        </p:txBody>
      </p:sp>
      <p:sp>
        <p:nvSpPr>
          <p:cNvPr id="3" name="Text 1"/>
          <p:cNvSpPr txBox="1"/>
          <p:nvPr/>
        </p:nvSpPr>
        <p:spPr>
          <a:xfrm>
            <a:off x="457200" y="1051560"/>
            <a:ext cx="2011680" cy="685800"/>
          </a:xfrm>
          <a:prstGeom prst="rect">
            <a:avLst/>
          </a:prstGeom>
          <a:noFill/>
          <a:ln/>
        </p:spPr>
        <p:txBody>
          <a:bodyPr wrap="square" lIns="0" tIns="0" rIns="0" bIns="0" rtlCol="0" anchor="ctr"/>
          <a:lstStyle/>
          <a:p>
            <a:pPr algn="ctr" indent="0" marL="0">
              <a:buNone/>
            </a:pPr>
            <a:r>
              <a:rPr lang="en-US" sz="3600" b="1" dirty="0">
                <a:solidFill>
                  <a:srgbClr val="D97706"/>
                </a:solidFill>
              </a:rPr>
              <a:t>1.9</a:t>
            </a:r>
            <a:endParaRPr lang="en-US" sz="3600" dirty="0"/>
          </a:p>
        </p:txBody>
      </p:sp>
      <p:sp>
        <p:nvSpPr>
          <p:cNvPr id="4" name="Text 2"/>
          <p:cNvSpPr txBox="1"/>
          <p:nvPr/>
        </p:nvSpPr>
        <p:spPr>
          <a:xfrm>
            <a:off x="457200" y="1737360"/>
            <a:ext cx="2011680" cy="502920"/>
          </a:xfrm>
          <a:prstGeom prst="rect">
            <a:avLst/>
          </a:prstGeom>
          <a:noFill/>
          <a:ln/>
        </p:spPr>
        <p:txBody>
          <a:bodyPr wrap="square" lIns="0" tIns="0" rIns="0" bIns="0" rtlCol="0" anchor="t"/>
          <a:lstStyle/>
          <a:p>
            <a:pPr algn="ctr" indent="0" marL="0">
              <a:buNone/>
            </a:pPr>
            <a:r>
              <a:rPr lang="en-US" sz="1100" dirty="0">
                <a:solidFill>
                  <a:srgbClr val="6B7280"/>
                </a:solidFill>
              </a:rPr>
              <a:t>frauds per 100 investigations (top 1%), proposed</a:t>
            </a:r>
            <a:endParaRPr lang="en-US" sz="1100" dirty="0"/>
          </a:p>
        </p:txBody>
      </p:sp>
      <p:sp>
        <p:nvSpPr>
          <p:cNvPr id="5" name="Text 3"/>
          <p:cNvSpPr txBox="1"/>
          <p:nvPr/>
        </p:nvSpPr>
        <p:spPr>
          <a:xfrm>
            <a:off x="2560320" y="1051560"/>
            <a:ext cx="2011680" cy="685800"/>
          </a:xfrm>
          <a:prstGeom prst="rect">
            <a:avLst/>
          </a:prstGeom>
          <a:noFill/>
          <a:ln/>
        </p:spPr>
        <p:txBody>
          <a:bodyPr wrap="square" lIns="0" tIns="0" rIns="0" bIns="0" rtlCol="0" anchor="ctr"/>
          <a:lstStyle/>
          <a:p>
            <a:pPr algn="ctr" indent="0" marL="0">
              <a:buNone/>
            </a:pPr>
            <a:r>
              <a:rPr lang="en-US" sz="3600" b="1" dirty="0">
                <a:solidFill>
                  <a:srgbClr val="6B7280"/>
                </a:solidFill>
              </a:rPr>
              <a:t>1.8</a:t>
            </a:r>
            <a:endParaRPr lang="en-US" sz="3600" dirty="0"/>
          </a:p>
        </p:txBody>
      </p:sp>
      <p:sp>
        <p:nvSpPr>
          <p:cNvPr id="6" name="Text 4"/>
          <p:cNvSpPr txBox="1"/>
          <p:nvPr/>
        </p:nvSpPr>
        <p:spPr>
          <a:xfrm>
            <a:off x="2560320" y="1737360"/>
            <a:ext cx="2011680" cy="502920"/>
          </a:xfrm>
          <a:prstGeom prst="rect">
            <a:avLst/>
          </a:prstGeom>
          <a:noFill/>
          <a:ln/>
        </p:spPr>
        <p:txBody>
          <a:bodyPr wrap="square" lIns="0" tIns="0" rIns="0" bIns="0" rtlCol="0" anchor="t"/>
          <a:lstStyle/>
          <a:p>
            <a:pPr algn="ctr" indent="0" marL="0">
              <a:buNone/>
            </a:pPr>
            <a:r>
              <a:rPr lang="en-US" sz="1100" dirty="0">
                <a:solidFill>
                  <a:srgbClr val="6B7280"/>
                </a:solidFill>
              </a:rPr>
              <a:t>baseline RUSBoost</a:t>
            </a:r>
            <a:endParaRPr lang="en-US" sz="1100" dirty="0"/>
          </a:p>
        </p:txBody>
      </p:sp>
      <p:sp>
        <p:nvSpPr>
          <p:cNvPr id="7" name="Text 5"/>
          <p:cNvSpPr txBox="1"/>
          <p:nvPr/>
        </p:nvSpPr>
        <p:spPr>
          <a:xfrm>
            <a:off x="4663440" y="1051560"/>
            <a:ext cx="2011680" cy="685800"/>
          </a:xfrm>
          <a:prstGeom prst="rect">
            <a:avLst/>
          </a:prstGeom>
          <a:noFill/>
          <a:ln/>
        </p:spPr>
        <p:txBody>
          <a:bodyPr wrap="square" lIns="0" tIns="0" rIns="0" bIns="0" rtlCol="0" anchor="ctr"/>
          <a:lstStyle/>
          <a:p>
            <a:pPr algn="ctr" indent="0" marL="0">
              <a:buNone/>
            </a:pPr>
            <a:r>
              <a:rPr lang="en-US" sz="3600" b="1" dirty="0">
                <a:solidFill>
                  <a:srgbClr val="6B7280"/>
                </a:solidFill>
              </a:rPr>
              <a:t>0.6</a:t>
            </a:r>
            <a:endParaRPr lang="en-US" sz="3600" dirty="0"/>
          </a:p>
        </p:txBody>
      </p:sp>
      <p:sp>
        <p:nvSpPr>
          <p:cNvPr id="8" name="Text 6"/>
          <p:cNvSpPr txBox="1"/>
          <p:nvPr/>
        </p:nvSpPr>
        <p:spPr>
          <a:xfrm>
            <a:off x="4663440" y="1737360"/>
            <a:ext cx="2011680" cy="502920"/>
          </a:xfrm>
          <a:prstGeom prst="rect">
            <a:avLst/>
          </a:prstGeom>
          <a:noFill/>
          <a:ln/>
        </p:spPr>
        <p:txBody>
          <a:bodyPr wrap="square" lIns="0" tIns="0" rIns="0" bIns="0" rtlCol="0" anchor="t"/>
          <a:lstStyle/>
          <a:p>
            <a:pPr algn="ctr" indent="0" marL="0">
              <a:buNone/>
            </a:pPr>
            <a:r>
              <a:rPr lang="en-US" sz="1100" dirty="0">
                <a:solidFill>
                  <a:srgbClr val="6B7280"/>
                </a:solidFill>
              </a:rPr>
              <a:t>random picking (base rate)</a:t>
            </a:r>
            <a:endParaRPr lang="en-US" sz="1100" dirty="0"/>
          </a:p>
        </p:txBody>
      </p:sp>
      <p:sp>
        <p:nvSpPr>
          <p:cNvPr id="9" name="Text 7"/>
          <p:cNvSpPr txBox="1"/>
          <p:nvPr/>
        </p:nvSpPr>
        <p:spPr>
          <a:xfrm>
            <a:off x="6766560" y="1051560"/>
            <a:ext cx="1920240" cy="685800"/>
          </a:xfrm>
          <a:prstGeom prst="rect">
            <a:avLst/>
          </a:prstGeom>
          <a:noFill/>
          <a:ln/>
        </p:spPr>
        <p:txBody>
          <a:bodyPr wrap="square" lIns="0" tIns="0" rIns="0" bIns="0" rtlCol="0" anchor="ctr"/>
          <a:lstStyle/>
          <a:p>
            <a:pPr algn="ctr" indent="0" marL="0">
              <a:buNone/>
            </a:pPr>
            <a:r>
              <a:rPr lang="en-US" sz="3600" b="1" dirty="0">
                <a:solidFill>
                  <a:srgbClr val="D97706"/>
                </a:solidFill>
              </a:rPr>
              <a:t>3.5x</a:t>
            </a:r>
            <a:endParaRPr lang="en-US" sz="3600" dirty="0"/>
          </a:p>
        </p:txBody>
      </p:sp>
      <p:sp>
        <p:nvSpPr>
          <p:cNvPr id="10" name="Text 8"/>
          <p:cNvSpPr txBox="1"/>
          <p:nvPr/>
        </p:nvSpPr>
        <p:spPr>
          <a:xfrm>
            <a:off x="6766560" y="1737360"/>
            <a:ext cx="1920240" cy="502920"/>
          </a:xfrm>
          <a:prstGeom prst="rect">
            <a:avLst/>
          </a:prstGeom>
          <a:noFill/>
          <a:ln/>
        </p:spPr>
        <p:txBody>
          <a:bodyPr wrap="square" lIns="0" tIns="0" rIns="0" bIns="0" rtlCol="0" anchor="t"/>
          <a:lstStyle/>
          <a:p>
            <a:pPr algn="ctr" indent="0" marL="0">
              <a:buNone/>
            </a:pPr>
            <a:r>
              <a:rPr lang="en-US" sz="1100" dirty="0">
                <a:solidFill>
                  <a:srgbClr val="6B7280"/>
                </a:solidFill>
              </a:rPr>
              <a:t>lift over random</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2514600"/>
          <a:ext cx="3931920" cy="914400"/>
        </p:xfrm>
        <a:graphic>
          <a:graphicData uri="http://schemas.openxmlformats.org/drawingml/2006/table">
            <a:tbl>
              <a:tblPr/>
              <a:tblGrid>
                <a:gridCol w="914400"/>
                <a:gridCol w="1005840"/>
                <a:gridCol w="1005840"/>
                <a:gridCol w="1005840"/>
              </a:tblGrid>
              <a:tr h="0">
                <a:tc>
                  <a:txBody>
                    <a:bodyPr/>
                    <a:lstStyle/>
                    <a:p>
                      <a:pPr indent="0" marL="0">
                        <a:buNone/>
                      </a:pPr>
                      <a:r>
                        <a:rPr lang="en-US" sz="1100" b="1" dirty="0">
                          <a:solidFill>
                            <a:srgbClr val="FFFFFF"/>
                          </a:solidFill>
                        </a:rPr>
                        <a:t>Budget</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c>
                  <a:txBody>
                    <a:bodyPr/>
                    <a:lstStyle/>
                    <a:p>
                      <a:pPr indent="0" marL="0">
                        <a:buNone/>
                      </a:pPr>
                      <a:r>
                        <a:rPr lang="en-US" sz="1100" b="1" dirty="0">
                          <a:solidFill>
                            <a:srgbClr val="FFFFFF"/>
                          </a:solidFill>
                        </a:rPr>
                        <a:t>Precision</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c>
                  <a:txBody>
                    <a:bodyPr/>
                    <a:lstStyle/>
                    <a:p>
                      <a:pPr indent="0" marL="0">
                        <a:buNone/>
                      </a:pPr>
                      <a:r>
                        <a:rPr lang="en-US" sz="1100" b="1" dirty="0">
                          <a:solidFill>
                            <a:srgbClr val="FFFFFF"/>
                          </a:solidFill>
                        </a:rPr>
                        <a:t>Recall</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c>
                  <a:txBody>
                    <a:bodyPr/>
                    <a:lstStyle/>
                    <a:p>
                      <a:pPr indent="0" marL="0">
                        <a:buNone/>
                      </a:pPr>
                      <a:r>
                        <a:rPr lang="en-US" sz="1100" b="1" dirty="0">
                          <a:solidFill>
                            <a:srgbClr val="FFFFFF"/>
                          </a:solidFill>
                        </a:rPr>
                        <a:t>Lift</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r>
              <a:tr h="0">
                <a:tc>
                  <a:txBody>
                    <a:bodyPr/>
                    <a:lstStyle/>
                    <a:p>
                      <a:pPr indent="0" marL="0">
                        <a:buNone/>
                      </a:pPr>
                      <a:r>
                        <a:rPr lang="en-US" sz="1100" dirty="0">
                          <a:solidFill>
                            <a:srgbClr val="1F2933"/>
                          </a:solidFill>
                        </a:rPr>
                        <a:t>Top 1%</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1.9%</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3.6%</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3.5x</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1100" dirty="0">
                          <a:solidFill>
                            <a:srgbClr val="1F2933"/>
                          </a:solidFill>
                        </a:rPr>
                        <a:t>Top 2%</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2.0%</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6.5%</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3.2x</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1100" dirty="0">
                          <a:solidFill>
                            <a:srgbClr val="1F2933"/>
                          </a:solidFill>
                        </a:rPr>
                        <a:t>Top 5%</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2.0%</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15.5%</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3.1x</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4663440" y="2514600"/>
          <a:ext cx="4023360" cy="914400"/>
        </p:xfrm>
        <a:graphic>
          <a:graphicData uri="http://schemas.openxmlformats.org/drawingml/2006/table">
            <a:tbl>
              <a:tblPr/>
              <a:tblGrid>
                <a:gridCol w="1645920"/>
                <a:gridCol w="1188720"/>
                <a:gridCol w="1188720"/>
              </a:tblGrid>
              <a:tr h="0">
                <a:tc>
                  <a:txBody>
                    <a:bodyPr/>
                    <a:lstStyle/>
                    <a:p>
                      <a:pPr indent="0" marL="0">
                        <a:buNone/>
                      </a:pPr>
                      <a:r>
                        <a:rPr lang="en-US" sz="1100" b="1" dirty="0">
                          <a:solidFill>
                            <a:srgbClr val="FFFFFF"/>
                          </a:solidFill>
                        </a:rPr>
                        <a:t>2004, top 1% (60 firms)</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c>
                  <a:txBody>
                    <a:bodyPr/>
                    <a:lstStyle/>
                    <a:p>
                      <a:pPr indent="0" marL="0">
                        <a:buNone/>
                      </a:pPr>
                      <a:r>
                        <a:rPr lang="en-US" sz="1100" b="1" dirty="0">
                          <a:solidFill>
                            <a:srgbClr val="FFFFFF"/>
                          </a:solidFill>
                        </a:rPr>
                        <a:t>Fraud</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c>
                  <a:txBody>
                    <a:bodyPr/>
                    <a:lstStyle/>
                    <a:p>
                      <a:pPr indent="0" marL="0">
                        <a:buNone/>
                      </a:pPr>
                      <a:r>
                        <a:rPr lang="en-US" sz="1100" b="1" dirty="0">
                          <a:solidFill>
                            <a:srgbClr val="FFFFFF"/>
                          </a:solidFill>
                        </a:rPr>
                        <a:t>Not fraud</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0B3C5D"/>
                    </a:solidFill>
                  </a:tcPr>
                </a:tc>
              </a:tr>
              <a:tr h="0">
                <a:tc>
                  <a:txBody>
                    <a:bodyPr/>
                    <a:lstStyle/>
                    <a:p>
                      <a:pPr indent="0" marL="0">
                        <a:buNone/>
                      </a:pPr>
                      <a:r>
                        <a:rPr lang="en-US" sz="1100" dirty="0">
                          <a:solidFill>
                            <a:srgbClr val="1F2933"/>
                          </a:solidFill>
                        </a:rPr>
                        <a:t>Flagged</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TP 3</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FP 57</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0">
                <a:tc>
                  <a:txBody>
                    <a:bodyPr/>
                    <a:lstStyle/>
                    <a:p>
                      <a:pPr indent="0" marL="0">
                        <a:buNone/>
                      </a:pPr>
                      <a:r>
                        <a:rPr lang="en-US" sz="1100" dirty="0">
                          <a:solidFill>
                            <a:srgbClr val="1F2933"/>
                          </a:solidFill>
                        </a:rPr>
                        <a:t>Not flagged</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FN 55</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F2933"/>
                          </a:solidFill>
                        </a:rPr>
                        <a:t>TN 5,819</a:t>
                      </a:r>
                      <a:endParaRPr lang="en-US" sz="1100" dirty="0"/>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bl>
          </a:graphicData>
        </a:graphic>
      </p:graphicFrame>
      <p:sp>
        <p:nvSpPr>
          <p:cNvPr id="13" name="Text 9"/>
          <p:cNvSpPr txBox="1"/>
          <p:nvPr/>
        </p:nvSpPr>
        <p:spPr>
          <a:xfrm>
            <a:off x="457200" y="3931920"/>
            <a:ext cx="8229600" cy="731520"/>
          </a:xfrm>
          <a:prstGeom prst="rect">
            <a:avLst/>
          </a:prstGeom>
          <a:noFill/>
          <a:ln/>
        </p:spPr>
        <p:txBody>
          <a:bodyPr wrap="square" lIns="0" tIns="0" rIns="0" bIns="0" rtlCol="0" anchor="t"/>
          <a:lstStyle/>
          <a:p>
            <a:pPr indent="0" marL="0">
              <a:buNone/>
            </a:pPr>
            <a:r>
              <a:rPr lang="en-US" sz="1200" i="1" dirty="0">
                <a:solidFill>
                  <a:schemeClr val="tx2"/>
                </a:solidFill>
              </a:rPr>
              <a:t>Honest framing: about 98 of every 100 flagged firms are not (labelled) fraud. This is a prioritisation tool that triples the hit rate of an investigator, not a fraud detector. Several years have zero hits at 1%.</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Calibrated probabilities: the score means what it says</a:t>
            </a:r>
            <a:endParaRPr lang="en-US" sz="2600" dirty="0"/>
          </a:p>
        </p:txBody>
      </p:sp>
      <p:graphicFrame>
        <p:nvGraphicFramePr>
          <p:cNvPr id="3" name="Chart 0" descr=""/>
          <p:cNvGraphicFramePr/>
          <p:nvPr/>
        </p:nvGraphicFramePr>
        <p:xfrm>
          <a:off x="457200" y="1051560"/>
          <a:ext cx="5486400" cy="36576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126480" y="1097280"/>
            <a:ext cx="2560320" cy="36576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1"/>
                </a:solidFill>
              </a:rPr>
              <a:t>Predicted and observed rates match in every decile; top decile 2.1% predicted vs 2.0% observed.</a:t>
            </a:r>
            <a:endParaRPr lang="en-US" sz="1150" dirty="0"/>
          </a:p>
          <a:p>
            <a:pPr marL="342900" indent="-342900">
              <a:spcAft>
                <a:spcPts val="600"/>
              </a:spcAft>
              <a:buSzPct val="100000"/>
              <a:buChar char="•"/>
            </a:pPr>
            <a:r>
              <a:rPr lang="en-US" sz="1150" dirty="0">
                <a:solidFill>
                  <a:schemeClr val="tx1"/>
                </a:solidFill>
              </a:rPr>
              <a:t>Bagging at 5:1 / 10:1 makes raw model outputs 10-100x too high; calibration fixes that before anyone reads them as probabilities.</a:t>
            </a:r>
            <a:endParaRPr lang="en-US" sz="1150" dirty="0"/>
          </a:p>
          <a:p>
            <a:pPr marL="342900" indent="-342900">
              <a:spcAft>
                <a:spcPts val="600"/>
              </a:spcAft>
              <a:buSzPct val="100000"/>
              <a:buChar char="•"/>
            </a:pPr>
            <a:r>
              <a:rPr lang="en-US" sz="1150" dirty="0">
                <a:solidFill>
                  <a:schemeClr val="tx1"/>
                </a:solidFill>
              </a:rPr>
              <a:t>Limit: it is a step function fit on 8 years and saturates near 2-3%.</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Explainability: SHAP on the deployed model</a:t>
            </a:r>
            <a:endParaRPr lang="en-US" sz="2600" dirty="0"/>
          </a:p>
        </p:txBody>
      </p:sp>
      <p:graphicFrame>
        <p:nvGraphicFramePr>
          <p:cNvPr id="3" name="Chart 0" descr=""/>
          <p:cNvGraphicFramePr/>
          <p:nvPr/>
        </p:nvGraphicFramePr>
        <p:xfrm>
          <a:off x="457200" y="1051560"/>
          <a:ext cx="4937760" cy="36576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577840" y="1097280"/>
            <a:ext cx="3108960" cy="36576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1"/>
                </a:solidFill>
              </a:rPr>
              <a:t>Drivers an auditor recognises: heavy fixed assets, low depreciation, high external financing need, thin liquidity.</a:t>
            </a:r>
            <a:endParaRPr lang="en-US" sz="1150" dirty="0"/>
          </a:p>
          <a:p>
            <a:pPr marL="342900" indent="-342900">
              <a:spcAft>
                <a:spcPts val="600"/>
              </a:spcAft>
              <a:buSzPct val="100000"/>
              <a:buChar char="•"/>
            </a:pPr>
            <a:r>
              <a:rPr lang="en-US" sz="1150" dirty="0">
                <a:solidFill>
                  <a:schemeClr val="tx1"/>
                </a:solidFill>
              </a:rPr>
              <a:t>Each flagged firm gets a waterfall plot: which features pushed its score up or down.</a:t>
            </a:r>
            <a:endParaRPr lang="en-US" sz="1150" dirty="0"/>
          </a:p>
          <a:p>
            <a:pPr marL="342900" indent="-342900">
              <a:spcAft>
                <a:spcPts val="600"/>
              </a:spcAft>
              <a:buSzPct val="100000"/>
              <a:buChar char="•"/>
            </a:pPr>
            <a:r>
              <a:rPr lang="en-US" sz="1150" dirty="0">
                <a:solidFill>
                  <a:schemeClr val="tx1"/>
                </a:solidFill>
              </a:rPr>
              <a:t>Honest caveat: firm size (log assets, log sales) still dominates even without raw dollar items. Dropping size would make the model size-neutral but weaker.</a:t>
            </a:r>
            <a:endParaRPr lang="en-US" sz="1150" dirty="0"/>
          </a:p>
          <a:p>
            <a:pPr marL="342900" indent="-342900">
              <a:spcAft>
                <a:spcPts val="600"/>
              </a:spcAft>
              <a:buSzPct val="100000"/>
              <a:buChar char="•"/>
            </a:pPr>
            <a:r>
              <a:rPr lang="en-US" sz="1150" dirty="0">
                <a:solidFill>
                  <a:schemeClr val="tx1"/>
                </a:solidFill>
              </a:rPr>
              <a:t>SHAP explains what the model uses, not why a firm committed fraud; the top-flagged table shows real hits and false alarms side by side.</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Confident lines to present</a:t>
            </a:r>
            <a:endParaRPr lang="en-US" sz="2600" dirty="0"/>
          </a:p>
        </p:txBody>
      </p:sp>
      <p:sp>
        <p:nvSpPr>
          <p:cNvPr id="3" name="line0"/>
          <p:cNvSpPr/>
          <p:nvPr/>
        </p:nvSpPr>
        <p:spPr>
          <a:xfrm>
            <a:off x="457200" y="1097280"/>
            <a:ext cx="8229600" cy="621792"/>
          </a:xfrm>
          <a:prstGeom prst="roundRect">
            <a:avLst>
              <a:gd name="adj" fmla="val 8824"/>
            </a:avLst>
          </a:prstGeom>
          <a:solidFill>
            <a:srgbClr val="EEF2F7"/>
          </a:solidFill>
          <a:ln w="12700">
            <a:solidFill>
              <a:srgbClr val="EEF2F7"/>
            </a:solidFill>
            <a:prstDash val="solid"/>
          </a:ln>
        </p:spPr>
      </p:sp>
      <p:sp>
        <p:nvSpPr>
          <p:cNvPr id="4" name="Text 2"/>
          <p:cNvSpPr txBox="1"/>
          <p:nvPr/>
        </p:nvSpPr>
        <p:spPr>
          <a:xfrm>
            <a:off x="594360" y="1097280"/>
            <a:ext cx="7955280" cy="621792"/>
          </a:xfrm>
          <a:prstGeom prst="rect">
            <a:avLst/>
          </a:prstGeom>
          <a:noFill/>
          <a:ln/>
        </p:spPr>
        <p:txBody>
          <a:bodyPr wrap="square" lIns="0" tIns="0" rIns="0" bIns="0" rtlCol="0" anchor="ctr"/>
          <a:lstStyle/>
          <a:p>
            <a:pPr indent="0" marL="0">
              <a:buNone/>
            </a:pPr>
            <a:r>
              <a:rPr lang="en-US" sz="1250" dirty="0">
                <a:solidFill>
                  <a:schemeClr val="tx1"/>
                </a:solidFill>
              </a:rPr>
              <a:t>"We reproduced the JAR 2020 baseline in Python with the authors' exact settings, and it lands in their reported AUC range."</a:t>
            </a:r>
            <a:endParaRPr lang="en-US" sz="1250" dirty="0"/>
          </a:p>
        </p:txBody>
      </p:sp>
      <p:sp>
        <p:nvSpPr>
          <p:cNvPr id="5" name="line1"/>
          <p:cNvSpPr/>
          <p:nvPr/>
        </p:nvSpPr>
        <p:spPr>
          <a:xfrm>
            <a:off x="457200" y="1810512"/>
            <a:ext cx="8229600" cy="621792"/>
          </a:xfrm>
          <a:prstGeom prst="roundRect">
            <a:avLst>
              <a:gd name="adj" fmla="val 8824"/>
            </a:avLst>
          </a:prstGeom>
          <a:solidFill>
            <a:srgbClr val="FFF7ED"/>
          </a:solidFill>
          <a:ln w="12700">
            <a:solidFill>
              <a:srgbClr val="FFF7ED"/>
            </a:solidFill>
            <a:prstDash val="solid"/>
          </a:ln>
        </p:spPr>
      </p:sp>
      <p:sp>
        <p:nvSpPr>
          <p:cNvPr id="6" name="Text 4"/>
          <p:cNvSpPr txBox="1"/>
          <p:nvPr/>
        </p:nvSpPr>
        <p:spPr>
          <a:xfrm>
            <a:off x="594360" y="1810512"/>
            <a:ext cx="7955280" cy="621792"/>
          </a:xfrm>
          <a:prstGeom prst="rect">
            <a:avLst/>
          </a:prstGeom>
          <a:noFill/>
          <a:ln/>
        </p:spPr>
        <p:txBody>
          <a:bodyPr wrap="square" lIns="0" tIns="0" rIns="0" bIns="0" rtlCol="0" anchor="ctr"/>
          <a:lstStyle/>
          <a:p>
            <a:pPr indent="0" marL="0">
              <a:buNone/>
            </a:pPr>
            <a:r>
              <a:rPr lang="en-US" sz="1250" dirty="0">
                <a:solidFill>
                  <a:schemeClr val="tx1"/>
                </a:solidFill>
              </a:rPr>
              <a:t>"Replacing raw dollar items with 133 scale-free accounting features lifts AUC from 0.705 to 0.732 and top-5% recall from 9.8% to 15.5%, both significant under a case-clustered bootstrap."</a:t>
            </a:r>
            <a:endParaRPr lang="en-US" sz="1250" dirty="0"/>
          </a:p>
        </p:txBody>
      </p:sp>
      <p:sp>
        <p:nvSpPr>
          <p:cNvPr id="7" name="line2"/>
          <p:cNvSpPr/>
          <p:nvPr/>
        </p:nvSpPr>
        <p:spPr>
          <a:xfrm>
            <a:off x="457200" y="2523744"/>
            <a:ext cx="8229600" cy="621792"/>
          </a:xfrm>
          <a:prstGeom prst="roundRect">
            <a:avLst>
              <a:gd name="adj" fmla="val 8824"/>
            </a:avLst>
          </a:prstGeom>
          <a:solidFill>
            <a:srgbClr val="EEF2F7"/>
          </a:solidFill>
          <a:ln w="12700">
            <a:solidFill>
              <a:srgbClr val="EEF2F7"/>
            </a:solidFill>
            <a:prstDash val="solid"/>
          </a:ln>
        </p:spPr>
      </p:sp>
      <p:sp>
        <p:nvSpPr>
          <p:cNvPr id="8" name="Text 6"/>
          <p:cNvSpPr txBox="1"/>
          <p:nvPr/>
        </p:nvSpPr>
        <p:spPr>
          <a:xfrm>
            <a:off x="594360" y="2523744"/>
            <a:ext cx="7955280" cy="621792"/>
          </a:xfrm>
          <a:prstGeom prst="rect">
            <a:avLst/>
          </a:prstGeom>
          <a:noFill/>
          <a:ln/>
        </p:spPr>
        <p:txBody>
          <a:bodyPr wrap="square" lIns="0" tIns="0" rIns="0" bIns="0" rtlCol="0" anchor="ctr"/>
          <a:lstStyle/>
          <a:p>
            <a:pPr indent="0" marL="0">
              <a:buNone/>
            </a:pPr>
            <a:r>
              <a:rPr lang="en-US" sz="1250" dirty="0">
                <a:solidFill>
                  <a:schemeClr val="tx1"/>
                </a:solidFill>
              </a:rPr>
              <a:t>"Unlike the paper, we give an investigator a decision: at a 1% budget the model finds 1.9 frauds per 100 reviews, 3.5x random, with a calibrated probability behind every score."</a:t>
            </a:r>
            <a:endParaRPr lang="en-US" sz="1250" dirty="0"/>
          </a:p>
        </p:txBody>
      </p:sp>
      <p:sp>
        <p:nvSpPr>
          <p:cNvPr id="9" name="line3"/>
          <p:cNvSpPr/>
          <p:nvPr/>
        </p:nvSpPr>
        <p:spPr>
          <a:xfrm>
            <a:off x="457200" y="3236976"/>
            <a:ext cx="8229600" cy="621792"/>
          </a:xfrm>
          <a:prstGeom prst="roundRect">
            <a:avLst>
              <a:gd name="adj" fmla="val 8824"/>
            </a:avLst>
          </a:prstGeom>
          <a:solidFill>
            <a:srgbClr val="FFF7ED"/>
          </a:solidFill>
          <a:ln w="12700">
            <a:solidFill>
              <a:srgbClr val="FFF7ED"/>
            </a:solidFill>
            <a:prstDash val="solid"/>
          </a:ln>
        </p:spPr>
      </p:sp>
      <p:sp>
        <p:nvSpPr>
          <p:cNvPr id="10" name="Text 8"/>
          <p:cNvSpPr txBox="1"/>
          <p:nvPr/>
        </p:nvSpPr>
        <p:spPr>
          <a:xfrm>
            <a:off x="594360" y="3236976"/>
            <a:ext cx="7955280" cy="621792"/>
          </a:xfrm>
          <a:prstGeom prst="rect">
            <a:avLst/>
          </a:prstGeom>
          <a:noFill/>
          <a:ln/>
        </p:spPr>
        <p:txBody>
          <a:bodyPr wrap="square" lIns="0" tIns="0" rIns="0" bIns="0" rtlCol="0" anchor="ctr"/>
          <a:lstStyle/>
          <a:p>
            <a:pPr indent="0" marL="0">
              <a:buNone/>
            </a:pPr>
            <a:r>
              <a:rPr lang="en-US" sz="1250" dirty="0">
                <a:solidFill>
                  <a:schemeClr val="tx1"/>
                </a:solidFill>
              </a:rPr>
              <a:t>"Every flagged firm comes with a SHAP explanation of the deployed model itself, not a proxy model."</a:t>
            </a:r>
            <a:endParaRPr lang="en-US" sz="1250" dirty="0"/>
          </a:p>
        </p:txBody>
      </p:sp>
      <p:sp>
        <p:nvSpPr>
          <p:cNvPr id="11" name="line4"/>
          <p:cNvSpPr/>
          <p:nvPr/>
        </p:nvSpPr>
        <p:spPr>
          <a:xfrm>
            <a:off x="457200" y="3950208"/>
            <a:ext cx="8229600" cy="621792"/>
          </a:xfrm>
          <a:prstGeom prst="roundRect">
            <a:avLst>
              <a:gd name="adj" fmla="val 8824"/>
            </a:avLst>
          </a:prstGeom>
          <a:solidFill>
            <a:srgbClr val="EEF2F7"/>
          </a:solidFill>
          <a:ln w="12700">
            <a:solidFill>
              <a:srgbClr val="EEF2F7"/>
            </a:solidFill>
            <a:prstDash val="solid"/>
          </a:ln>
        </p:spPr>
      </p:sp>
      <p:sp>
        <p:nvSpPr>
          <p:cNvPr id="12" name="Text 10"/>
          <p:cNvSpPr txBox="1"/>
          <p:nvPr/>
        </p:nvSpPr>
        <p:spPr>
          <a:xfrm>
            <a:off x="594360" y="3950208"/>
            <a:ext cx="7955280" cy="621792"/>
          </a:xfrm>
          <a:prstGeom prst="rect">
            <a:avLst/>
          </a:prstGeom>
          <a:noFill/>
          <a:ln/>
        </p:spPr>
        <p:txBody>
          <a:bodyPr wrap="square" lIns="0" tIns="0" rIns="0" bIns="0" rtlCol="0" anchor="ctr"/>
          <a:lstStyle/>
          <a:p>
            <a:pPr indent="0" marL="0">
              <a:buNone/>
            </a:pPr>
            <a:r>
              <a:rPr lang="en-US" sz="1250" dirty="0">
                <a:solidFill>
                  <a:schemeClr val="tx1"/>
                </a:solidFill>
              </a:rPr>
              <a:t>"The deployable model stops at 2010 on purpose: fraud labels for later years are still being discovered."</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lIns="0" tIns="0" rIns="0" bIns="0" rtlCol="0" anchor="ctr"/>
          <a:lstStyle/>
          <a:p>
            <a:pPr indent="0" marL="0">
              <a:buNone/>
            </a:pPr>
            <a:r>
              <a:rPr lang="en-US" sz="3600" b="1" dirty="0">
                <a:solidFill>
                  <a:schemeClr val="bg1"/>
                </a:solidFill>
              </a:rPr>
              <a:t>5 · What a major project could add</a:t>
            </a:r>
            <a:endParaRPr lang="en-US" sz="3600" dirty="0"/>
          </a:p>
        </p:txBody>
      </p:sp>
      <p:sp>
        <p:nvSpPr>
          <p:cNvPr id="3" name="Text 0"/>
          <p:cNvSpPr/>
          <p:nvPr>
            <p:ph idx="101" type="body" hasCustomPrompt="1"/>
          </p:nvPr>
        </p:nvSpPr>
        <p:spPr>
          <a:xfrm>
            <a:off x="548640" y="2971800"/>
            <a:ext cx="8046720" cy="822960"/>
          </a:xfrm>
          <a:prstGeom prst="rect">
            <a:avLst/>
          </a:prstGeom>
          <a:noFill/>
          <a:ln/>
        </p:spPr>
        <p:txBody>
          <a:bodyPr wrap="square" lIns="0" tIns="0" rIns="0" bIns="0" rtlCol="0" anchor="t"/>
          <a:lstStyle/>
          <a:p>
            <a:pPr indent="0" marL="0">
              <a:buNone/>
            </a:pPr>
            <a:r>
              <a:rPr lang="en-US" sz="1600" dirty="0">
                <a:solidFill>
                  <a:srgbClr val="CADCFC"/>
                </a:solidFill>
              </a:rPr>
              <a:t>Suggestions only, none implemented. Ordered by expected value per week of work.</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chemeClr val="tx2"/>
                </a:solidFill>
              </a:rPr>
              <a:t>Realistic extensions for a major project</a:t>
            </a:r>
            <a:endParaRPr lang="en-US" sz="2600" dirty="0"/>
          </a:p>
        </p:txBody>
      </p:sp>
      <p:sp>
        <p:nvSpPr>
          <p:cNvPr id="3" name="Text features from 10-K filings"/>
          <p:cNvSpPr/>
          <p:nvPr/>
        </p:nvSpPr>
        <p:spPr>
          <a:xfrm>
            <a:off x="457200" y="1097280"/>
            <a:ext cx="2651760" cy="1691640"/>
          </a:xfrm>
          <a:prstGeom prst="roundRect">
            <a:avLst>
              <a:gd name="adj" fmla="val 4324"/>
            </a:avLst>
          </a:prstGeom>
          <a:solidFill>
            <a:srgbClr val="EEF2F7"/>
          </a:solidFill>
          <a:ln w="12700">
            <a:solidFill>
              <a:srgbClr val="EEF2F7"/>
            </a:solidFill>
            <a:prstDash val="solid"/>
          </a:ln>
        </p:spPr>
      </p:sp>
      <p:sp>
        <p:nvSpPr>
          <p:cNvPr id="4" name="Text 2"/>
          <p:cNvSpPr txBox="1"/>
          <p:nvPr/>
        </p:nvSpPr>
        <p:spPr>
          <a:xfrm>
            <a:off x="594360" y="11887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Text features from 10-K filings</a:t>
            </a:r>
            <a:endParaRPr lang="en-US" sz="1300" dirty="0"/>
          </a:p>
        </p:txBody>
      </p:sp>
      <p:sp>
        <p:nvSpPr>
          <p:cNvPr id="5" name="Text 3"/>
          <p:cNvSpPr txBox="1"/>
          <p:nvPr/>
        </p:nvSpPr>
        <p:spPr>
          <a:xfrm>
            <a:off x="594360" y="1508760"/>
            <a:ext cx="2377440" cy="1188720"/>
          </a:xfrm>
          <a:prstGeom prst="rect">
            <a:avLst/>
          </a:prstGeom>
          <a:noFill/>
          <a:ln/>
        </p:spPr>
        <p:txBody>
          <a:bodyPr wrap="square" lIns="0" tIns="0" rIns="0" bIns="0" rtlCol="0" anchor="t"/>
          <a:lstStyle/>
          <a:p>
            <a:pPr indent="0" marL="0">
              <a:buNone/>
            </a:pPr>
            <a:r>
              <a:rPr lang="en-US" sz="1150" dirty="0">
                <a:solidFill>
                  <a:schemeClr val="tx1"/>
                </a:solidFill>
              </a:rPr>
              <a:t>MD&amp;A tone, readability, length changes (Loughran-McDonald dictionaries or a small fine-tuned language model). Published work shows text adds signal beyond the financials.</a:t>
            </a:r>
            <a:endParaRPr lang="en-US" sz="1150" dirty="0"/>
          </a:p>
        </p:txBody>
      </p:sp>
      <p:sp>
        <p:nvSpPr>
          <p:cNvPr id="6" name="Size-neutral model"/>
          <p:cNvSpPr/>
          <p:nvPr/>
        </p:nvSpPr>
        <p:spPr>
          <a:xfrm>
            <a:off x="3246120" y="1097280"/>
            <a:ext cx="2651760" cy="1691640"/>
          </a:xfrm>
          <a:prstGeom prst="roundRect">
            <a:avLst>
              <a:gd name="adj" fmla="val 4324"/>
            </a:avLst>
          </a:prstGeom>
          <a:solidFill>
            <a:srgbClr val="FFF7ED"/>
          </a:solidFill>
          <a:ln w="12700">
            <a:solidFill>
              <a:srgbClr val="FFF7ED"/>
            </a:solidFill>
            <a:prstDash val="solid"/>
          </a:ln>
        </p:spPr>
      </p:sp>
      <p:sp>
        <p:nvSpPr>
          <p:cNvPr id="7" name="Text 5"/>
          <p:cNvSpPr txBox="1"/>
          <p:nvPr/>
        </p:nvSpPr>
        <p:spPr>
          <a:xfrm>
            <a:off x="3383280" y="11887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Size-neutral model</a:t>
            </a:r>
            <a:endParaRPr lang="en-US" sz="1300" dirty="0"/>
          </a:p>
        </p:txBody>
      </p:sp>
      <p:sp>
        <p:nvSpPr>
          <p:cNvPr id="8" name="Text 6"/>
          <p:cNvSpPr txBox="1"/>
          <p:nvPr/>
        </p:nvSpPr>
        <p:spPr>
          <a:xfrm>
            <a:off x="3383280" y="1508760"/>
            <a:ext cx="2377440" cy="1188720"/>
          </a:xfrm>
          <a:prstGeom prst="rect">
            <a:avLst/>
          </a:prstGeom>
          <a:noFill/>
          <a:ln/>
        </p:spPr>
        <p:txBody>
          <a:bodyPr wrap="square" lIns="0" tIns="0" rIns="0" bIns="0" rtlCol="0" anchor="t"/>
          <a:lstStyle/>
          <a:p>
            <a:pPr indent="0" marL="0">
              <a:buNone/>
            </a:pPr>
            <a:r>
              <a:rPr lang="en-US" sz="1150" dirty="0">
                <a:solidFill>
                  <a:schemeClr val="tx1"/>
                </a:solidFill>
              </a:rPr>
              <a:t>Drop log assets / log sales, or model fraud risk within size buckets, and test whether precision at 1% holds. Decides whether "size" is signal or bias.</a:t>
            </a:r>
            <a:endParaRPr lang="en-US" sz="1150" dirty="0"/>
          </a:p>
        </p:txBody>
      </p:sp>
      <p:sp>
        <p:nvSpPr>
          <p:cNvPr id="9" name="Cost-sensitive cutoff"/>
          <p:cNvSpPr/>
          <p:nvPr/>
        </p:nvSpPr>
        <p:spPr>
          <a:xfrm>
            <a:off x="6035040" y="1097280"/>
            <a:ext cx="2651760" cy="1691640"/>
          </a:xfrm>
          <a:prstGeom prst="roundRect">
            <a:avLst>
              <a:gd name="adj" fmla="val 4324"/>
            </a:avLst>
          </a:prstGeom>
          <a:solidFill>
            <a:srgbClr val="EEF2F7"/>
          </a:solidFill>
          <a:ln w="12700">
            <a:solidFill>
              <a:srgbClr val="EEF2F7"/>
            </a:solidFill>
            <a:prstDash val="solid"/>
          </a:ln>
        </p:spPr>
      </p:sp>
      <p:sp>
        <p:nvSpPr>
          <p:cNvPr id="10" name="Text 8"/>
          <p:cNvSpPr txBox="1"/>
          <p:nvPr/>
        </p:nvSpPr>
        <p:spPr>
          <a:xfrm>
            <a:off x="6172200" y="11887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Cost-sensitive cutoff</a:t>
            </a:r>
            <a:endParaRPr lang="en-US" sz="1300" dirty="0"/>
          </a:p>
        </p:txBody>
      </p:sp>
      <p:sp>
        <p:nvSpPr>
          <p:cNvPr id="11" name="Text 9"/>
          <p:cNvSpPr txBox="1"/>
          <p:nvPr/>
        </p:nvSpPr>
        <p:spPr>
          <a:xfrm>
            <a:off x="6172200" y="1508760"/>
            <a:ext cx="2377440" cy="1188720"/>
          </a:xfrm>
          <a:prstGeom prst="rect">
            <a:avLst/>
          </a:prstGeom>
          <a:noFill/>
          <a:ln/>
        </p:spPr>
        <p:txBody>
          <a:bodyPr wrap="square" lIns="0" tIns="0" rIns="0" bIns="0" rtlCol="0" anchor="t"/>
          <a:lstStyle/>
          <a:p>
            <a:pPr indent="0" marL="0">
              <a:buNone/>
            </a:pPr>
            <a:r>
              <a:rPr lang="en-US" sz="1150" dirty="0">
                <a:solidFill>
                  <a:schemeClr val="tx1"/>
                </a:solidFill>
              </a:rPr>
              <a:t>Pick the investigation budget by expected value: cost of a review vs. loss avoided per catch. Turns the ranking into a defendable policy.</a:t>
            </a:r>
            <a:endParaRPr lang="en-US" sz="1150" dirty="0"/>
          </a:p>
        </p:txBody>
      </p:sp>
      <p:sp>
        <p:nvSpPr>
          <p:cNvPr id="12" name="Label-delay modelling"/>
          <p:cNvSpPr/>
          <p:nvPr/>
        </p:nvSpPr>
        <p:spPr>
          <a:xfrm>
            <a:off x="457200" y="2926080"/>
            <a:ext cx="2651760" cy="1691640"/>
          </a:xfrm>
          <a:prstGeom prst="roundRect">
            <a:avLst>
              <a:gd name="adj" fmla="val 4324"/>
            </a:avLst>
          </a:prstGeom>
          <a:solidFill>
            <a:srgbClr val="FFF7ED"/>
          </a:solidFill>
          <a:ln w="12700">
            <a:solidFill>
              <a:srgbClr val="FFF7ED"/>
            </a:solidFill>
            <a:prstDash val="solid"/>
          </a:ln>
        </p:spPr>
      </p:sp>
      <p:sp>
        <p:nvSpPr>
          <p:cNvPr id="13" name="Text 11"/>
          <p:cNvSpPr txBox="1"/>
          <p:nvPr/>
        </p:nvSpPr>
        <p:spPr>
          <a:xfrm>
            <a:off x="594360" y="30175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Label-delay modelling</a:t>
            </a:r>
            <a:endParaRPr lang="en-US" sz="1300" dirty="0"/>
          </a:p>
        </p:txBody>
      </p:sp>
      <p:sp>
        <p:nvSpPr>
          <p:cNvPr id="14" name="Text 12"/>
          <p:cNvSpPr txBox="1"/>
          <p:nvPr/>
        </p:nvSpPr>
        <p:spPr>
          <a:xfrm>
            <a:off x="594360" y="3337560"/>
            <a:ext cx="2377440" cy="1188720"/>
          </a:xfrm>
          <a:prstGeom prst="rect">
            <a:avLst/>
          </a:prstGeom>
          <a:noFill/>
          <a:ln/>
        </p:spPr>
        <p:txBody>
          <a:bodyPr wrap="square" lIns="0" tIns="0" rIns="0" bIns="0" rtlCol="0" anchor="t"/>
          <a:lstStyle/>
          <a:p>
            <a:pPr indent="0" marL="0">
              <a:buNone/>
            </a:pPr>
            <a:r>
              <a:rPr lang="en-US" sz="1150" dirty="0">
                <a:solidFill>
                  <a:schemeClr val="tx1"/>
                </a:solidFill>
              </a:rPr>
              <a:t>Weight recent training years by the probability their frauds are already discovered (survival-style), instead of a hard 2010 cutoff.</a:t>
            </a:r>
            <a:endParaRPr lang="en-US" sz="1150" dirty="0"/>
          </a:p>
        </p:txBody>
      </p:sp>
      <p:sp>
        <p:nvSpPr>
          <p:cNvPr id="15" name="Stronger statistics"/>
          <p:cNvSpPr/>
          <p:nvPr/>
        </p:nvSpPr>
        <p:spPr>
          <a:xfrm>
            <a:off x="3246120" y="2926080"/>
            <a:ext cx="2651760" cy="1691640"/>
          </a:xfrm>
          <a:prstGeom prst="roundRect">
            <a:avLst>
              <a:gd name="adj" fmla="val 4324"/>
            </a:avLst>
          </a:prstGeom>
          <a:solidFill>
            <a:srgbClr val="EEF2F7"/>
          </a:solidFill>
          <a:ln w="12700">
            <a:solidFill>
              <a:srgbClr val="EEF2F7"/>
            </a:solidFill>
            <a:prstDash val="solid"/>
          </a:ln>
        </p:spPr>
      </p:sp>
      <p:sp>
        <p:nvSpPr>
          <p:cNvPr id="16" name="Text 14"/>
          <p:cNvSpPr txBox="1"/>
          <p:nvPr/>
        </p:nvSpPr>
        <p:spPr>
          <a:xfrm>
            <a:off x="3383280" y="30175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Stronger statistics</a:t>
            </a:r>
            <a:endParaRPr lang="en-US" sz="1300" dirty="0"/>
          </a:p>
        </p:txBody>
      </p:sp>
      <p:sp>
        <p:nvSpPr>
          <p:cNvPr id="17" name="Text 15"/>
          <p:cNvSpPr txBox="1"/>
          <p:nvPr/>
        </p:nvSpPr>
        <p:spPr>
          <a:xfrm>
            <a:off x="3383280" y="3337560"/>
            <a:ext cx="2377440" cy="1188720"/>
          </a:xfrm>
          <a:prstGeom prst="rect">
            <a:avLst/>
          </a:prstGeom>
          <a:noFill/>
          <a:ln/>
        </p:spPr>
        <p:txBody>
          <a:bodyPr wrap="square" lIns="0" tIns="0" rIns="0" bIns="0" rtlCol="0" anchor="t"/>
          <a:lstStyle/>
          <a:p>
            <a:pPr indent="0" marL="0">
              <a:buNone/>
            </a:pPr>
            <a:r>
              <a:rPr lang="en-US" sz="1150" dirty="0">
                <a:solidFill>
                  <a:schemeClr val="tx1"/>
                </a:solidFill>
              </a:rPr>
              <a:t>DeLong test per year, firm-level cross-validated calibration, and a stricter nested selection so the 3 validation years cannot overfit.</a:t>
            </a:r>
            <a:endParaRPr lang="en-US" sz="1150" dirty="0"/>
          </a:p>
        </p:txBody>
      </p:sp>
      <p:sp>
        <p:nvSpPr>
          <p:cNvPr id="18" name="Other markets"/>
          <p:cNvSpPr/>
          <p:nvPr/>
        </p:nvSpPr>
        <p:spPr>
          <a:xfrm>
            <a:off x="6035040" y="2926080"/>
            <a:ext cx="2651760" cy="1691640"/>
          </a:xfrm>
          <a:prstGeom prst="roundRect">
            <a:avLst>
              <a:gd name="adj" fmla="val 4324"/>
            </a:avLst>
          </a:prstGeom>
          <a:solidFill>
            <a:srgbClr val="FFF7ED"/>
          </a:solidFill>
          <a:ln w="12700">
            <a:solidFill>
              <a:srgbClr val="FFF7ED"/>
            </a:solidFill>
            <a:prstDash val="solid"/>
          </a:ln>
        </p:spPr>
      </p:sp>
      <p:sp>
        <p:nvSpPr>
          <p:cNvPr id="19" name="Text 17"/>
          <p:cNvSpPr txBox="1"/>
          <p:nvPr/>
        </p:nvSpPr>
        <p:spPr>
          <a:xfrm>
            <a:off x="6172200" y="3017520"/>
            <a:ext cx="2377440" cy="320040"/>
          </a:xfrm>
          <a:prstGeom prst="rect">
            <a:avLst/>
          </a:prstGeom>
          <a:noFill/>
          <a:ln/>
        </p:spPr>
        <p:txBody>
          <a:bodyPr wrap="square" lIns="0" tIns="0" rIns="0" bIns="0" rtlCol="0" anchor="ctr"/>
          <a:lstStyle/>
          <a:p>
            <a:pPr indent="0" marL="0">
              <a:buNone/>
            </a:pPr>
            <a:r>
              <a:rPr lang="en-US" sz="1300" b="1" dirty="0">
                <a:solidFill>
                  <a:schemeClr val="tx2"/>
                </a:solidFill>
              </a:rPr>
              <a:t>Other markets</a:t>
            </a:r>
            <a:endParaRPr lang="en-US" sz="1300" dirty="0"/>
          </a:p>
        </p:txBody>
      </p:sp>
      <p:sp>
        <p:nvSpPr>
          <p:cNvPr id="20" name="Text 18"/>
          <p:cNvSpPr txBox="1"/>
          <p:nvPr/>
        </p:nvSpPr>
        <p:spPr>
          <a:xfrm>
            <a:off x="6172200" y="3337560"/>
            <a:ext cx="2377440" cy="1188720"/>
          </a:xfrm>
          <a:prstGeom prst="rect">
            <a:avLst/>
          </a:prstGeom>
          <a:noFill/>
          <a:ln/>
        </p:spPr>
        <p:txBody>
          <a:bodyPr wrap="square" lIns="0" tIns="0" rIns="0" bIns="0" rtlCol="0" anchor="t"/>
          <a:lstStyle/>
          <a:p>
            <a:pPr indent="0" marL="0">
              <a:buNone/>
            </a:pPr>
            <a:r>
              <a:rPr lang="en-US" sz="1150" dirty="0">
                <a:solidFill>
                  <a:schemeClr val="tx1"/>
                </a:solidFill>
              </a:rPr>
              <a:t>Re-run on an Indian or EU sample (different standards, different fraud patterns). The README already anticipates a 300-company Indian dataset.</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463040"/>
          </a:xfrm>
          <a:prstGeom prst="rect">
            <a:avLst/>
          </a:prstGeom>
          <a:noFill/>
          <a:ln/>
        </p:spPr>
        <p:txBody>
          <a:bodyPr wrap="square" lIns="0" tIns="0" rIns="0" bIns="0" rtlCol="0" anchor="b"/>
          <a:lstStyle/>
          <a:p>
            <a:pPr indent="0" marL="0">
              <a:buNone/>
            </a:pPr>
            <a:r>
              <a:rPr lang="en-US" sz="3800" b="1" dirty="0">
                <a:solidFill>
                  <a:schemeClr val="bg1"/>
                </a:solidFill>
              </a:rPr>
              <a:t>Thank you</a:t>
            </a:r>
            <a:endParaRPr lang="en-US" sz="3800" dirty="0"/>
          </a:p>
        </p:txBody>
      </p:sp>
      <p:sp>
        <p:nvSpPr>
          <p:cNvPr id="3" name="Text 0"/>
          <p:cNvSpPr/>
          <p:nvPr>
            <p:ph idx="101" type="body" hasCustomPrompt="1"/>
          </p:nvPr>
        </p:nvSpPr>
        <p:spPr>
          <a:xfrm>
            <a:off x="548640" y="2971800"/>
            <a:ext cx="8046720" cy="1463040"/>
          </a:xfrm>
          <a:prstGeom prst="rect">
            <a:avLst/>
          </a:prstGeom>
          <a:noFill/>
          <a:ln/>
        </p:spPr>
        <p:txBody>
          <a:bodyPr wrap="square" lIns="0" tIns="0" rIns="0" bIns="0" rtlCol="0" anchor="t"/>
          <a:lstStyle/>
          <a:p>
            <a:pPr indent="0" marL="0">
              <a:buNone/>
            </a:pPr>
            <a:r>
              <a:rPr lang="en-US" sz="1600" dirty="0">
                <a:solidFill>
                  <a:srgbClr val="CADCFC"/>
                </a:solidFill>
              </a:rPr>
              <a:t>Code, results and this deck: Final-Year-Project repository</a:t>
            </a:r>
            <a:endParaRPr lang="en-US" sz="1600" dirty="0"/>
          </a:p>
          <a:p>
            <a:pPr indent="0" marL="0">
              <a:buNone/>
            </a:pPr>
            <a:r>
              <a:rPr lang="en-US" sz="1300" dirty="0">
                <a:solidFill>
                  <a:srgbClr val="CADCFC"/>
                </a:solidFill>
              </a:rPr>
              <a:t>run_pipeline.py reproduces every number in 18 minutes on a laptop; score_new_data.py scores new firms.</a:t>
            </a:r>
            <a:endParaRPr lang="en-US" sz="1600" dirty="0"/>
          </a:p>
        </p:txBody>
      </p:sp>
    </p:spTree>
  </p:cSld>
  <p:clrMapOvr>
    <a:masterClrMapping/>
  </p:clrMapOvr>
</p:sld>
</file>

<file path=ppt/theme/theme1.xml><?xml version="1.0" encoding="utf-8"?>
<a:theme xmlns:a="http://schemas.openxmlformats.org/drawingml/2006/main" name="Forensic Ledger">
  <a:themeElements>
    <a:clrScheme name="Forensic Ledger">
      <a:dk1>
        <a:srgbClr val="1F2933"/>
      </a:dk1>
      <a:lt1>
        <a:srgbClr val="FFFFFF"/>
      </a:lt1>
      <a:dk2>
        <a:srgbClr val="0B3C5D"/>
      </a:dk2>
      <a:lt2>
        <a:srgbClr val="EEF2F7"/>
      </a:lt2>
      <a:accent1>
        <a:srgbClr val="D97706"/>
      </a:accent1>
      <a:accent2>
        <a:srgbClr val="0B3C5D"/>
      </a:accent2>
      <a:accent3>
        <a:srgbClr val="6B7280"/>
      </a:accent3>
      <a:accent4>
        <a:srgbClr val="15803D"/>
      </a:accent4>
      <a:accent5>
        <a:srgbClr val="B91C1C"/>
      </a:accent5>
      <a:accent6>
        <a:srgbClr val="2563EB"/>
      </a:accent6>
      <a:hlink>
        <a:srgbClr val="2563EB"/>
      </a:hlink>
      <a:folHlink>
        <a:srgbClr val="6B7280"/>
      </a:folHlink>
    </a:clrScheme>
    <a:fontScheme name="Forensic Led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Accounting-Fraud Detection</dc:title>
  <dc:subject>PptxGenJS Presentation</dc:subject>
  <dc:creator>Final Year Project</dc:creator>
  <cp:lastModifiedBy>Final Year Project</cp:lastModifiedBy>
  <cp:revision>1</cp:revision>
  <dcterms:created xsi:type="dcterms:W3CDTF">2026-10-17T07:35:37Z</dcterms:created>
  <dcterms:modified xsi:type="dcterms:W3CDTF">2026-10-17T07:35:37Z</dcterms:modified>
</cp:coreProperties>
</file>